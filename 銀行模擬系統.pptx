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1" r:id="rId7"/>
    <p:sldId id="27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7E85"/>
    <a:srgbClr val="53ACDE"/>
    <a:srgbClr val="D1845C"/>
    <a:srgbClr val="F1F5F8"/>
    <a:srgbClr val="E3E7EA"/>
    <a:srgbClr val="194465"/>
    <a:srgbClr val="B64A9C"/>
    <a:srgbClr val="C167AC"/>
    <a:srgbClr val="CC81BB"/>
    <a:srgbClr val="BB7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C48E79-4D6D-3227-BC90-ED53100AC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9CE85F4-D574-FD44-2B5F-6D5460F0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D73D0-DBEB-2CCB-C952-FF81B6CC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9BC6EF-EDDE-FBE8-CE38-933931F5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116B34-7526-6716-64C8-833F6B05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2372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966D0-1E51-8ABD-BC9A-E4536FBF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D7C954-76EF-4893-7909-0208CF88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78D6AF-CF42-2B24-35C2-E3FAB873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3B426C-D6A0-31F0-B071-FC44C49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4F940E-D29F-A4ED-6E89-2FA13CBE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168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C6CF9-E956-991D-3556-87BDCAE6A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92FD2F1-D5AB-2DFB-CE63-CC21FDD7F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44583B-E81F-FC57-FF07-184D460D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9C6364-3145-E3FF-86BA-50F0C2F2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A24C79-30B6-F340-1388-2FB5EC13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2902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8D2EC-6F65-B1D4-516A-24E1C11E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2A58F2-108C-48AF-124D-ADC94199E0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56B39-713D-A93A-800E-D9351C550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9793842-AF88-7A5C-63DA-3A636F7AE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B446B17-1D4E-FE93-E1FA-5D8E51AF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DD00A-7E91-6FB1-8A80-67B36853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471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25B7BA-3B50-217A-8C9F-F818C7260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D14297-B347-663F-B676-F93E6A67B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0C5267-F57D-5CC6-AF60-D50921B4C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7145002-66F4-FA2E-FA91-D13BECFB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4B9F5C-5B54-C4FA-74D1-6590EE0C4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C63ACBF-BA29-271B-5277-524300791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D335E2-3EEF-99B6-44E3-8D012BE4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4B82275-BA06-6E95-B380-70F0A7AE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11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9ED383-19BB-FB99-1CC8-C2C6BA70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764F30F-4D0B-1772-4B6E-786F7D0E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BBD2B1A-CF90-BE43-B015-406B2FA6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2BEE73-9020-69E2-E194-5D1D7FDE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92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61B2600-840C-3D4D-E5B8-8307D0A6B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BA0F1C2-BB43-BE5E-8093-F63DB59F4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490D60-BEA1-D573-DDD2-B9C8D5FFB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87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627CC-561B-866A-5940-41D4C54E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B68172-F86C-ED16-3103-91AD9605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651C83-9A03-CE83-7F6C-53787D7A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282892F-CBE5-59B7-88B2-6A064CF34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9568AF-5260-0E70-2E7C-92C1942EC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E91941D-D33B-87D6-019A-39515DB2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712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A6787-5430-EBFD-9829-6BA8C779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D8F4B40-899C-463F-D6AC-2DB0243C9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7AAC91A-E7CF-9A93-E09E-E6EA0A293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12F098-3ABE-F608-AC53-788E3EB12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B4DFFB1-427F-FDE2-FEE0-8D740E01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FCD09F-BF31-499D-2BC6-93B926117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965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A29029-D9BF-3F1A-11CD-1102C3A71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F9A3ABF-19FB-5503-6585-2CB1D0DD4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2CA825-AD51-195A-CBD7-151B9CCEF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C9B8235-3CEB-08F2-7925-FBC5E4B9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D3FB9B6-89CB-ACAD-7280-C6644DD2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428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60ADA3-15F1-FB10-E687-790D4D9D7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62602DD-8B40-B7FE-5A21-64E05A293B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CFD7D6-9717-C620-4FE7-FFCCBD4F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526A02-5CF4-C97A-AAA0-DD203CF88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33B43-576B-1B85-C965-C6238D36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78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ABC6BB-634E-0B02-ABAA-91AB40CD2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503F43-8334-520A-1FF9-363756DBB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0F1B8F-814D-BA9E-12A8-E32DCA6A7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CE43A9-73AE-C5AE-DE95-3597FF110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F88D62-0CDF-3189-540D-8FB2AC52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21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AB29E37-1872-B53C-DD40-AAFFD26867C0}"/>
              </a:ext>
            </a:extLst>
          </p:cNvPr>
          <p:cNvSpPr/>
          <p:nvPr/>
        </p:nvSpPr>
        <p:spPr>
          <a:xfrm>
            <a:off x="10780295" y="6192253"/>
            <a:ext cx="1411704" cy="818147"/>
          </a:xfrm>
          <a:prstGeom prst="rect">
            <a:avLst/>
          </a:prstGeom>
          <a:solidFill>
            <a:srgbClr val="F1F5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pic>
        <p:nvPicPr>
          <p:cNvPr id="6" name="圖片 5" descr="一張含有 寫生, 設計, 藝術 的圖片&#10;&#10;AI 產生的內容可能不正確。">
            <a:extLst>
              <a:ext uri="{FF2B5EF4-FFF2-40B4-BE49-F238E27FC236}">
                <a16:creationId xmlns:a16="http://schemas.microsoft.com/office/drawing/2014/main" id="{30CF3E99-F6DF-6A81-F0BE-AB2F10B9E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431" y="181069"/>
            <a:ext cx="7971135" cy="4748396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19508412-F313-A0D1-18A8-0BCF36064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825496"/>
            <a:ext cx="9144000" cy="991103"/>
          </a:xfrm>
        </p:spPr>
        <p:txBody>
          <a:bodyPr/>
          <a:lstStyle/>
          <a:p>
            <a:r>
              <a:rPr lang="zh-TW" altLang="en-US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銀行模擬系統</a:t>
            </a:r>
          </a:p>
        </p:txBody>
      </p:sp>
      <p:sp>
        <p:nvSpPr>
          <p:cNvPr id="8" name="副標題 7">
            <a:extLst>
              <a:ext uri="{FF2B5EF4-FFF2-40B4-BE49-F238E27FC236}">
                <a16:creationId xmlns:a16="http://schemas.microsoft.com/office/drawing/2014/main" id="{B0B53EA9-FCF8-C7B1-A7CF-0935B10D4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030119"/>
            <a:ext cx="9144000" cy="646812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一個物件導向設計與實現的探索</a:t>
            </a:r>
          </a:p>
        </p:txBody>
      </p:sp>
    </p:spTree>
    <p:extLst>
      <p:ext uri="{BB962C8B-B14F-4D97-AF65-F5344CB8AC3E}">
        <p14:creationId xmlns:p14="http://schemas.microsoft.com/office/powerpoint/2010/main" val="1878748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41676-9869-EDC9-A070-DB388B35A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0C67B5D-53C8-082A-CAA3-F251467E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系統願景：打造一個多功能的銀行模擬平台</a:t>
            </a: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C81133C-5FDC-0D44-47C0-2FA4A316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8965" y="1781686"/>
            <a:ext cx="3822746" cy="450850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6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專案目標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b="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/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設計一個基於</a:t>
            </a:r>
            <a:r>
              <a:rPr lang="en-US" altLang="zh-TW" b="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的銀行模擬系統，該系統應具備使用者管理、多銀行帳戶操作及後台管理管理等核心功能，並以物件導向原則進行架構。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DE8F03CE-8723-6859-60DE-C6F12C4111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5130" y="1734109"/>
            <a:ext cx="5009982" cy="95714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使用者系統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支持多使用者註冊、登入與登出。提供一個獨立的「遊客」模式，所有使用者資料在切換帳號或登出時會自動保存。</a:t>
            </a:r>
          </a:p>
        </p:txBody>
      </p:sp>
      <p:pic>
        <p:nvPicPr>
          <p:cNvPr id="12" name="內容版面配置區 11" descr="一張含有 寫生, 圖畫, 設計, 印刷術 的圖片&#10;&#10;AI 產生的內容可能不正確。">
            <a:extLst>
              <a:ext uri="{FF2B5EF4-FFF2-40B4-BE49-F238E27FC236}">
                <a16:creationId xmlns:a16="http://schemas.microsoft.com/office/drawing/2014/main" id="{A3DFC147-9ACA-2412-6FAC-F31B1D83088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425507" y="1690688"/>
            <a:ext cx="946484" cy="4392926"/>
          </a:xfrm>
          <a:prstGeom prst="rect">
            <a:avLst/>
          </a:prstGeom>
        </p:spPr>
      </p:pic>
      <p:sp>
        <p:nvSpPr>
          <p:cNvPr id="13" name="文字版面配置區 8">
            <a:extLst>
              <a:ext uri="{FF2B5EF4-FFF2-40B4-BE49-F238E27FC236}">
                <a16:creationId xmlns:a16="http://schemas.microsoft.com/office/drawing/2014/main" id="{BA583764-E9BB-AF71-0B3A-B3200E735DC9}"/>
              </a:ext>
            </a:extLst>
          </p:cNvPr>
          <p:cNvSpPr txBox="1">
            <a:spLocks/>
          </p:cNvSpPr>
          <p:nvPr/>
        </p:nvSpPr>
        <p:spPr>
          <a:xfrm>
            <a:off x="6655130" y="2822064"/>
            <a:ext cx="5009982" cy="1190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銀行業務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使用者可以對系統內的多家銀行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(A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 進行開戶、存款、提款及跨行轉帳。</a:t>
            </a:r>
          </a:p>
        </p:txBody>
      </p:sp>
      <p:sp>
        <p:nvSpPr>
          <p:cNvPr id="14" name="文字版面配置區 8">
            <a:extLst>
              <a:ext uri="{FF2B5EF4-FFF2-40B4-BE49-F238E27FC236}">
                <a16:creationId xmlns:a16="http://schemas.microsoft.com/office/drawing/2014/main" id="{34A8E66E-E534-2E5B-4265-F8B2CF5B4466}"/>
              </a:ext>
            </a:extLst>
          </p:cNvPr>
          <p:cNvSpPr txBox="1">
            <a:spLocks/>
          </p:cNvSpPr>
          <p:nvPr/>
        </p:nvSpPr>
        <p:spPr>
          <a:xfrm>
            <a:off x="6655130" y="4018777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管理員模式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提供特殊的 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“root”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模式，允許管理者動態設定不同銀行間的跨行轉帳手續費。</a:t>
            </a:r>
          </a:p>
        </p:txBody>
      </p:sp>
      <p:sp>
        <p:nvSpPr>
          <p:cNvPr id="15" name="文字版面配置區 8">
            <a:extLst>
              <a:ext uri="{FF2B5EF4-FFF2-40B4-BE49-F238E27FC236}">
                <a16:creationId xmlns:a16="http://schemas.microsoft.com/office/drawing/2014/main" id="{67348A08-B15F-FFCA-16C5-038B9F05029E}"/>
              </a:ext>
            </a:extLst>
          </p:cNvPr>
          <p:cNvSpPr txBox="1">
            <a:spLocks/>
          </p:cNvSpPr>
          <p:nvPr/>
        </p:nvSpPr>
        <p:spPr>
          <a:xfrm>
            <a:off x="6655130" y="5111718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圖形化介面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(GUI) 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提供一個直觀且反應迅速的圖形介面，讓所有操作都能透過對話框和按鈕完成。</a:t>
            </a:r>
          </a:p>
        </p:txBody>
      </p:sp>
    </p:spTree>
    <p:extLst>
      <p:ext uri="{BB962C8B-B14F-4D97-AF65-F5344CB8AC3E}">
        <p14:creationId xmlns:p14="http://schemas.microsoft.com/office/powerpoint/2010/main" val="23457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145727-3904-E697-016F-8240E2663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56A47C-E906-3C48-7D2E-FA42DC605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系統架構設計：四大核心支柱</a:t>
            </a:r>
          </a:p>
        </p:txBody>
      </p:sp>
      <p:pic>
        <p:nvPicPr>
          <p:cNvPr id="6" name="內容版面配置區 5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7D0551C3-7AAA-73E7-90BC-046E5D4A6C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64920" y="1902615"/>
            <a:ext cx="10814560" cy="4590260"/>
          </a:xfrm>
          <a:prstGeom prst="rect">
            <a:avLst/>
          </a:prstGeo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BDF681-BF40-22DB-A35E-62CFDDDE8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443790"/>
            <a:ext cx="10515600" cy="4588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系統圍繞四個核心</a:t>
            </a:r>
            <a:r>
              <a:rPr lang="en-US" altLang="zh-TW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Java</a:t>
            </a: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類別建構，每個類別都有明確的職責，實現了高度模組化和低耦合的設計。</a:t>
            </a:r>
          </a:p>
        </p:txBody>
      </p:sp>
    </p:spTree>
    <p:extLst>
      <p:ext uri="{BB962C8B-B14F-4D97-AF65-F5344CB8AC3E}">
        <p14:creationId xmlns:p14="http://schemas.microsoft.com/office/powerpoint/2010/main" val="3279701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835FF-0F23-352F-7E4C-40997B1E2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6A3356-0DD5-821E-41A8-DDF2756B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‘Account’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使用者管理的基石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EA89E-924F-DEDB-ED48-9BF265ABB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4747896"/>
          </a:xfrm>
          <a:solidFill>
            <a:srgbClr val="E3E7EA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 class </a:t>
            </a:r>
            <a:r>
              <a:rPr lang="en-US" altLang="zh-TW" sz="1400" dirty="0">
                <a:latin typeface="Times New Roman" panose="02020603050405020304" pitchFamily="18" charset="0"/>
              </a:rPr>
              <a:t>Account{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</a:t>
            </a:r>
            <a:r>
              <a:rPr lang="en-US" altLang="zh-TW" sz="1400" dirty="0">
                <a:latin typeface="Times New Roman" panose="02020603050405020304" pitchFamily="18" charset="0"/>
              </a:rPr>
              <a:t>Account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Map&lt;String,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&gt;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class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username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password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bankBaalances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isBankOpened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… constructor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53ACDE"/>
                </a:solidFill>
                <a:latin typeface="Times New Roman" panose="02020603050405020304" pitchFamily="18" charset="0"/>
              </a:rPr>
              <a:t>Account</a:t>
            </a:r>
            <a:r>
              <a:rPr lang="en-US" altLang="zh-TW" sz="1400" dirty="0">
                <a:latin typeface="Times New Roman" panose="02020603050405020304" pitchFamily="18" charset="0"/>
              </a:rPr>
              <a:t>(){ </a:t>
            </a: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// … constructor </a:t>
            </a: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zh-TW" sz="1400" dirty="0">
                <a:latin typeface="Times New Roman" panose="02020603050405020304" pitchFamily="18" charset="0"/>
              </a:rPr>
              <a:t> Account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getInstance</a:t>
            </a:r>
            <a:r>
              <a:rPr lang="en-US" altLang="zh-TW" sz="1400" dirty="0">
                <a:latin typeface="Times New Roman" panose="02020603050405020304" pitchFamily="18" charset="0"/>
              </a:rPr>
              <a:t>(){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if</a:t>
            </a:r>
            <a:r>
              <a:rPr lang="en-US" altLang="zh-TW" sz="1400" dirty="0">
                <a:latin typeface="Times New Roman" panose="02020603050405020304" pitchFamily="18" charset="0"/>
              </a:rPr>
              <a:t>(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==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null</a:t>
            </a:r>
            <a:r>
              <a:rPr lang="en-US" altLang="zh-TW" sz="1400" dirty="0">
                <a:latin typeface="Times New Roman" panose="02020603050405020304" pitchFamily="18" charset="0"/>
              </a:rPr>
              <a:t>){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new</a:t>
            </a:r>
            <a:r>
              <a:rPr lang="en-US" altLang="zh-TW" sz="1400" dirty="0">
                <a:latin typeface="Times New Roman" panose="02020603050405020304" pitchFamily="18" charset="0"/>
              </a:rPr>
              <a:t> Account();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return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</a:endParaRPr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2ECBACC0-A215-8CDE-FBF0-4A840214D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554856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統一管理所有使用者帳號、密碼、登入狀態以及其對應的所有銀行帳戶資料。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採用</a:t>
            </a:r>
            <a:r>
              <a:rPr lang="zh-TW" altLang="en-US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，透過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getInstance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方法確保系統中只有一個帳戶管理實例，避免資料不同。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關鍵機制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6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靜態內部類別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HashMap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將使用者名稱映射到一個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物件，此物件包含該使用者的密碼、各銀行餘額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bankBalances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和開戶狀態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isBankOpened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核心的資料持久化方法。在使用者登入前、後或成功操作後出發，確保每個使用者的銀行狀態能在不同會話間完整保存及讀取。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3092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83845-9233-5811-F71C-46EDB0AFF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0C1E7F8-A517-E4B6-43A6-2D263B87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‘Bank’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- </a:t>
            </a:r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交易執行的單元</a:t>
            </a:r>
            <a:endParaRPr lang="zh-TW" altLang="en-US" sz="4000" b="1" dirty="0">
              <a:solidFill>
                <a:srgbClr val="194465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6600133-E25F-7852-F97E-7C966B5B36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代表一個獨立的銀行帳戶，封裝了所有核心的金融操作邏輯，如開戶、存提款與轉帳。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核心屬性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int coin: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帳戶餘額。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boolean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open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帳戶是否已開立。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open_an_account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開立新帳戶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並設定初始金額。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money)/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receiveMoney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執行存款與提款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包含餘額檢查。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(Bank to, 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處理轉帳邏輯。此方法會呼叫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`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來獲取手續費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並計算總扣款額。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5208CAE-01AF-CD93-82D7-CCD997915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Bank{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open_an_account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設定初始金額並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saveMoney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累加金額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receiveMoney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or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取出金額並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transferMoney</a:t>
            </a:r>
            <a:r>
              <a:rPr lang="en-US" altLang="zh-TW" sz="1300" dirty="0">
                <a:latin typeface="Times New Roman" panose="02020603050405020304" pitchFamily="18" charset="0"/>
              </a:rPr>
              <a:t>(Bank to,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/*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若是雙方有沒開戶的或是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銀行取出金額給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的銀行 *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/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73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F8C9B-CF22-7110-0946-0C37BC28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F01389-C851-31BE-85A2-2E40311F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</a:t>
            </a:r>
            <a:r>
              <a:rPr lang="en-US" altLang="zh-TW" sz="4000" b="1" dirty="0" err="1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BankManager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規則的制定者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777F23B-9E43-1965-1A16-73464778A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集中管理全域性的銀行規則，例如跨行手續費，並提供管理員權限的切換功能。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同樣採用 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，確保手續費等全域規則在系統中的唯一性和一致性。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to, int fee)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只有在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模式下才能成功調用，用以設定銀行間的轉帳手續費。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提供給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Bank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類別在計算轉帳時查詢手續費。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enterRootMode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exitRootMode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切換系統進入或退出管理員模式。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屬性會影響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的顯示與可用功能。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4EF30FB-3CB7-5459-DB41-7397BB79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latin typeface="Times New Roman" panose="02020603050405020304" pitchFamily="18" charset="0"/>
              </a:rPr>
              <a:t>BankManager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setHandlingFee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to, int fee)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非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反之調整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getHandlingFee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to){</a:t>
            </a:r>
            <a:endParaRPr lang="en-US" altLang="zh-TW" sz="1300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獲得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enterRootMode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開啟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zh-TW" altLang="en-US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exitRootMode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關閉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45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B2CF2-1632-8261-B535-ED6C147A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C2C828-0788-123F-BD21-655D242E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指揮中心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‘Main’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：串連邏輯與介面的橋樑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FA35338-4AAB-698C-8537-45B872B93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555510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初始化系統</a:t>
            </a:r>
          </a:p>
          <a:p>
            <a:pPr marL="198000" indent="0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程式啟動時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創建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‘Bank’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‘Account’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，和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的單例實例。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建構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建立所有視覺元件，包括主視窗、文字區域、按鈕面板及設定選單。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事件處理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(Event Handling)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為所有按鈕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如「轉帳」、「開戶」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添加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‘ActionListener’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，將使用者的點擊事件連結到後端業務邏輯的調用。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狀態更新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根據後端資料的變化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即時調用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updateLabels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刷新介面上顯示的餘額、使用者名稱和銀行狀態。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動態介面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的狀態，調用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updateSidebar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來動態切換使用者按鈕和管理者按鈕。</a:t>
            </a:r>
          </a:p>
        </p:txBody>
      </p:sp>
      <p:pic>
        <p:nvPicPr>
          <p:cNvPr id="8" name="內容版面配置區 7" descr="一張含有 圖表, 螢幕擷取畫面, 文字, 行 的圖片&#10;&#10;AI 產生的內容可能不正確。">
            <a:extLst>
              <a:ext uri="{FF2B5EF4-FFF2-40B4-BE49-F238E27FC236}">
                <a16:creationId xmlns:a16="http://schemas.microsoft.com/office/drawing/2014/main" id="{86C018DF-80C8-5C06-CD7A-42FB0D2851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407477"/>
            <a:ext cx="5181600" cy="33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12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01BBFB-2E3E-880A-C96C-60EB655B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618CA0-51C2-1494-D5B5-B8410004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使用者介面：一個直觀互動的門戶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0E508F-5045-DABC-DC51-364B3C73DD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294132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0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顯示「當前使用者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遊客」，登入後會變更顏色與名稱，由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userLabel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銀行餘額區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列出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A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銀行的開戶狀態與各自餘額，由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功能操作區 </a:t>
            </a: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1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下方的按鈕面板，根據使用者或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模式動態顯示不同按鈕，由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‘sidebar’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pic>
        <p:nvPicPr>
          <p:cNvPr id="9" name="內容版面配置區 8" descr="一張含有 文字, 電子產品, 螢幕擷取畫面, 陳列 的圖片&#10;&#10;AI 產生的內容可能不正確。">
            <a:extLst>
              <a:ext uri="{FF2B5EF4-FFF2-40B4-BE49-F238E27FC236}">
                <a16:creationId xmlns:a16="http://schemas.microsoft.com/office/drawing/2014/main" id="{3B47BB34-1B71-19A7-FBE4-98F8F96319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22725" y="1939573"/>
            <a:ext cx="3719513" cy="4123441"/>
          </a:xfrm>
          <a:prstGeom prst="rect">
            <a:avLst/>
          </a:prstGeom>
        </p:spPr>
      </p:pic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62D3F5-3898-5BD0-28CD-514065FA73B2}"/>
              </a:ext>
            </a:extLst>
          </p:cNvPr>
          <p:cNvSpPr txBox="1">
            <a:spLocks/>
          </p:cNvSpPr>
          <p:nvPr/>
        </p:nvSpPr>
        <p:spPr>
          <a:xfrm>
            <a:off x="7985760" y="1825625"/>
            <a:ext cx="29413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系統設定選單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「設定」按鈕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提供切換帳號、進入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退出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模式等功能。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資產總覽區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顯示「總餘額」。由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moneyArea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002584-457F-377F-46AC-C33A0FA8B021}"/>
              </a:ext>
            </a:extLst>
          </p:cNvPr>
          <p:cNvCxnSpPr/>
          <p:nvPr/>
        </p:nvCxnSpPr>
        <p:spPr>
          <a:xfrm>
            <a:off x="3779520" y="2407920"/>
            <a:ext cx="243205" cy="13208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A4476744-503C-1D6D-72E6-F96E5CF7337F}"/>
              </a:ext>
            </a:extLst>
          </p:cNvPr>
          <p:cNvSpPr/>
          <p:nvPr/>
        </p:nvSpPr>
        <p:spPr>
          <a:xfrm>
            <a:off x="4022724" y="2540000"/>
            <a:ext cx="1276985" cy="28702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6535846-B022-15E7-994D-23F574AD5A1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3688080" y="3307080"/>
            <a:ext cx="334644" cy="61722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2AFA0C1-8964-B1DE-9E0C-DF726FFDE355}"/>
              </a:ext>
            </a:extLst>
          </p:cNvPr>
          <p:cNvSpPr/>
          <p:nvPr/>
        </p:nvSpPr>
        <p:spPr>
          <a:xfrm>
            <a:off x="4022724" y="2887980"/>
            <a:ext cx="1661796" cy="83820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4D86D93-BDE2-E356-B6D9-E6FC3AA016CC}"/>
              </a:ext>
            </a:extLst>
          </p:cNvPr>
          <p:cNvSpPr/>
          <p:nvPr/>
        </p:nvSpPr>
        <p:spPr>
          <a:xfrm>
            <a:off x="4229100" y="5417820"/>
            <a:ext cx="3238500" cy="48768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2142625-26ED-DD1A-3F1A-72E40B8A4FB8}"/>
              </a:ext>
            </a:extLst>
          </p:cNvPr>
          <p:cNvCxnSpPr>
            <a:endCxn id="20" idx="1"/>
          </p:cNvCxnSpPr>
          <p:nvPr/>
        </p:nvCxnSpPr>
        <p:spPr>
          <a:xfrm flipV="1">
            <a:off x="3733800" y="5661660"/>
            <a:ext cx="495300" cy="11430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AA91BE02-5ED2-8F02-3E7C-B439FB49DA85}"/>
              </a:ext>
            </a:extLst>
          </p:cNvPr>
          <p:cNvSpPr/>
          <p:nvPr/>
        </p:nvSpPr>
        <p:spPr>
          <a:xfrm>
            <a:off x="7117080" y="2225040"/>
            <a:ext cx="625158" cy="31496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9DEEA87-39E5-6953-BC03-0C8ADD1504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7742238" y="2382520"/>
            <a:ext cx="312102" cy="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80E8C4AA-4788-7C8C-CEE6-EA18F5098DC1}"/>
              </a:ext>
            </a:extLst>
          </p:cNvPr>
          <p:cNvSpPr/>
          <p:nvPr/>
        </p:nvSpPr>
        <p:spPr>
          <a:xfrm>
            <a:off x="6530340" y="2540000"/>
            <a:ext cx="1211898" cy="347979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A22858B8-41A8-7B51-523D-9D4E3938516C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7742238" y="2713990"/>
            <a:ext cx="312102" cy="774416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85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E073BA-2BCD-DE3B-B6F3-E61EF7E5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89C13F-6E9C-7F7A-5F2D-4D12DD0C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身份的起點：使用者註冊與登入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03437C-C73F-52F4-FB86-66A33A0DC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3934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流程說明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使用者點擊「設定」選單中的「切換帳號」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會彈出一個包含「登入」和「註冊」標籤頁的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JDialog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註冊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輸入帳號密碼後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Account.register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。成功後會自動跳轉至登入頁面。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登入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驗證成功後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系統會先調用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Account.saveUserData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保存上一位使用者的資料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然後調用 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Account.loadUserData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載入新登入者的銀行資料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並更新主介面。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遊客模式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選擇登出時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Account.logout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它會先儲存當使用者資料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再切換至遊客身份並載入遊客資料。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46031EFA-F844-696A-7A7B-71F6FD0B8BB3}"/>
              </a:ext>
            </a:extLst>
          </p:cNvPr>
          <p:cNvSpPr txBox="1">
            <a:spLocks/>
          </p:cNvSpPr>
          <p:nvPr/>
        </p:nvSpPr>
        <p:spPr>
          <a:xfrm>
            <a:off x="6096000" y="1960562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7F50CA0-8061-8DED-7C37-76341F1F8F06}"/>
              </a:ext>
            </a:extLst>
          </p:cNvPr>
          <p:cNvSpPr txBox="1">
            <a:spLocks/>
          </p:cNvSpPr>
          <p:nvPr/>
        </p:nvSpPr>
        <p:spPr>
          <a:xfrm>
            <a:off x="6096000" y="4458328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7BAF248-A9A9-8161-4803-395F972E2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8" y="1402961"/>
            <a:ext cx="3465885" cy="26317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4769CF8-E859-E062-ED41-2351C100C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7" y="3698069"/>
            <a:ext cx="3465885" cy="260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35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B9EAD-7FE9-0401-61D1-27138A1D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2AA1D3-FD51-4CCC-302E-DCF80EAAC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日常操作：開戶、存提與轉帳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782E16D-C175-9132-F0AA-4E08F0B5E7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714135" cy="2040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互動方式</a:t>
            </a:r>
          </a:p>
          <a:p>
            <a:pPr marL="0" indent="0"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所有核心銀行功能皆透過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JOption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Pane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彈出式對話框完成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引導使用者選擇銀行並輸入金額。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A763570-9B31-2ECB-1883-26A8C9C4D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66147"/>
            <a:ext cx="10515600" cy="23108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功能展示</a:t>
            </a:r>
            <a:endParaRPr lang="en-US" altLang="zh-TW" sz="1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開戶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使用者選擇銀行並輸入初始存款金額。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存款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提款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使用者選擇目標銀行並輸入金額。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轉帳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使用者需選擇轉出銀行和轉入銀行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並輸入金額。在確認前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對話框會提示本次交易所需的手續費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這是由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bankManager.getHandling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Fee()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動態計算的。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每次成功操作後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系統都會調用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userManager.saveUserData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來保存最新狀態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並刷新主介面。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2A63AA7-D727-8464-C723-380CCD766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1690688"/>
            <a:ext cx="3134162" cy="1476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8C58AB8-1FEB-44EC-92E6-D3B62974F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50198" y="1698904"/>
            <a:ext cx="3934374" cy="141942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5441C96-F0C5-8767-956F-1AA3A04BA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3233365"/>
            <a:ext cx="3105583" cy="146705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3CFFE23-C025-66D7-DD44-339A9EAD3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4" b="994"/>
          <a:stretch/>
        </p:blipFill>
        <p:spPr>
          <a:xfrm>
            <a:off x="8474147" y="3223839"/>
            <a:ext cx="3105583" cy="1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5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EA4292-6568-0EE8-C23B-46F0791C8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CFA991-C730-7049-8162-FA5D682B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上帝視角：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Root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管理模式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EB01CB-1FE6-BCFC-5960-4FB3B427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44943"/>
            <a:ext cx="5257800" cy="4632019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進入方式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從「設定」選單選擇「進入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管理模式」。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介面變化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 user Label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文字變為紅色的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資產顯示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總餘額與各銀行餘額均顯示為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"null",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保護隱私並表示當前非交易狀態。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功能按鈕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下方的按鈕面板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(sidebar)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會被清空並替換為管理員專用按鈕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「設定手續費」和「查看手續費」。一般銀行業務按鈕被禁用。</a:t>
            </a: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專屬功能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管理者可以設定任意兩家不同銀行間的轉帳手續費。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可以查看當前所有手續費的設定。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7D7C02-F601-DC81-B2FD-8C20FF7E1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4616" y="2044633"/>
            <a:ext cx="4959183" cy="33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18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CA98C8-A486-1A75-2930-6C20932C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FD31A5-48B8-4DA1-8320-0CFC53FD9605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流程拆解：跨行轉帳的流程</a:t>
            </a:r>
          </a:p>
        </p:txBody>
      </p:sp>
      <p:pic>
        <p:nvPicPr>
          <p:cNvPr id="5" name="圖片 4" descr="一張含有 文字, 螢幕擷取畫面, 平行, 行 的圖片&#10;&#10;AI 產生的內容可能不正確。">
            <a:extLst>
              <a:ext uri="{FF2B5EF4-FFF2-40B4-BE49-F238E27FC236}">
                <a16:creationId xmlns:a16="http://schemas.microsoft.com/office/drawing/2014/main" id="{258E94D2-C0F5-9F72-B4E1-A60E8788E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466" y="1511484"/>
            <a:ext cx="10531354" cy="463990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F91FF71-3344-A322-782B-5F9B95CA0CB0}"/>
              </a:ext>
            </a:extLst>
          </p:cNvPr>
          <p:cNvSpPr txBox="1"/>
          <p:nvPr/>
        </p:nvSpPr>
        <p:spPr>
          <a:xfrm>
            <a:off x="1957136" y="2149641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點擊「轉帳」按鈕，輸入金額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FE96E72-150A-172A-47F2-ECBDF78165BF}"/>
              </a:ext>
            </a:extLst>
          </p:cNvPr>
          <p:cNvSpPr txBox="1"/>
          <p:nvPr/>
        </p:nvSpPr>
        <p:spPr>
          <a:xfrm>
            <a:off x="4722545" y="2448526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60072CC-641C-0A4A-47E6-C36B67DA3BEE}"/>
              </a:ext>
            </a:extLst>
          </p:cNvPr>
          <p:cNvSpPr txBox="1"/>
          <p:nvPr/>
        </p:nvSpPr>
        <p:spPr>
          <a:xfrm>
            <a:off x="2013165" y="3134174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顯示確認對話框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4DFA0CA-C4BA-EC06-B5C3-1F5CD5AC3106}"/>
              </a:ext>
            </a:extLst>
          </p:cNvPr>
          <p:cNvSpPr txBox="1"/>
          <p:nvPr/>
        </p:nvSpPr>
        <p:spPr>
          <a:xfrm>
            <a:off x="2013165" y="349238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確認轉帳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BC1B54-CF64-4706-975B-5AF48FC7F7D4}"/>
              </a:ext>
            </a:extLst>
          </p:cNvPr>
          <p:cNvSpPr txBox="1"/>
          <p:nvPr/>
        </p:nvSpPr>
        <p:spPr>
          <a:xfrm>
            <a:off x="4722545" y="3831434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6.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transfer_money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4AAD5A-979F-353C-18B1-05BD04153616}"/>
              </a:ext>
            </a:extLst>
          </p:cNvPr>
          <p:cNvSpPr txBox="1"/>
          <p:nvPr/>
        </p:nvSpPr>
        <p:spPr>
          <a:xfrm>
            <a:off x="4722545" y="4577073"/>
            <a:ext cx="153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8.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返回成功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失敗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5B1F6FD-D0CF-9E5B-6841-B640C334D8F9}"/>
              </a:ext>
            </a:extLst>
          </p:cNvPr>
          <p:cNvSpPr txBox="1"/>
          <p:nvPr/>
        </p:nvSpPr>
        <p:spPr>
          <a:xfrm>
            <a:off x="6985108" y="28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返回手續費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14668AC-1587-BBC6-9DF1-80EA7A921C38}"/>
              </a:ext>
            </a:extLst>
          </p:cNvPr>
          <p:cNvSpPr txBox="1"/>
          <p:nvPr/>
        </p:nvSpPr>
        <p:spPr>
          <a:xfrm>
            <a:off x="4722545" y="4922387"/>
            <a:ext cx="2339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9.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8B405C8-448D-9453-C65E-DA597DA34B6E}"/>
              </a:ext>
            </a:extLst>
          </p:cNvPr>
          <p:cNvSpPr txBox="1"/>
          <p:nvPr/>
        </p:nvSpPr>
        <p:spPr>
          <a:xfrm>
            <a:off x="4691217" y="5322712"/>
            <a:ext cx="3865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10.(Self-call)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CB6F23-1511-EA9B-03C2-44E729839F31}"/>
              </a:ext>
            </a:extLst>
          </p:cNvPr>
          <p:cNvSpPr txBox="1"/>
          <p:nvPr/>
        </p:nvSpPr>
        <p:spPr>
          <a:xfrm>
            <a:off x="7518440" y="4139211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7.(Self-cell)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檢查餘額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更新帳戶</a:t>
            </a:r>
          </a:p>
        </p:txBody>
      </p:sp>
    </p:spTree>
    <p:extLst>
      <p:ext uri="{BB962C8B-B14F-4D97-AF65-F5344CB8AC3E}">
        <p14:creationId xmlns:p14="http://schemas.microsoft.com/office/powerpoint/2010/main" val="204418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C8103-BE6E-2A86-FF9E-4CD404BC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行, 圖表, 螢幕擷取畫面, 文字 的圖片&#10;&#10;AI 產生的內容可能不正確。">
            <a:extLst>
              <a:ext uri="{FF2B5EF4-FFF2-40B4-BE49-F238E27FC236}">
                <a16:creationId xmlns:a16="http://schemas.microsoft.com/office/drawing/2014/main" id="{B34512E0-F4B0-439F-B7FB-3976F9BFD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24274"/>
            <a:ext cx="12192000" cy="3809451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0FDFF4E4-7B3C-C230-292D-806E0BA6116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資料的生命週期：確保使用者資料不遺失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E024030-CED6-AA12-946E-623A0670E74B}"/>
              </a:ext>
            </a:extLst>
          </p:cNvPr>
          <p:cNvSpPr txBox="1"/>
          <p:nvPr/>
        </p:nvSpPr>
        <p:spPr>
          <a:xfrm>
            <a:off x="740954" y="5461622"/>
            <a:ext cx="112646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核心機制：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資料持久化的核心是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類別中的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HashMap&lt;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String,UserData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&gt; users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它在程式運行期間，將每位使用者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包括遊客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的銀行狀態保存於記憶體中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設計目標：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確保在單次程式使用期間，任何使用者的帳戶狀態都能在登入、登出和切換帳號之間被完整保留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202A2BE-071E-DF55-CEB3-03EA636E73E2}"/>
              </a:ext>
            </a:extLst>
          </p:cNvPr>
          <p:cNvSpPr txBox="1"/>
          <p:nvPr/>
        </p:nvSpPr>
        <p:spPr>
          <a:xfrm>
            <a:off x="5346786" y="157040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登入成功後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1C7774-B963-BFA2-05C1-B3C005CD4E46}"/>
              </a:ext>
            </a:extLst>
          </p:cNvPr>
          <p:cNvSpPr txBox="1"/>
          <p:nvPr/>
        </p:nvSpPr>
        <p:spPr>
          <a:xfrm>
            <a:off x="1266598" y="1558310"/>
            <a:ext cx="28135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（保存遊客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前用戶資料）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8D6B219-DC16-7FDE-DF78-37B57626C080}"/>
              </a:ext>
            </a:extLst>
          </p:cNvPr>
          <p:cNvSpPr txBox="1"/>
          <p:nvPr/>
        </p:nvSpPr>
        <p:spPr>
          <a:xfrm>
            <a:off x="1563731" y="455485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銀行操作成功後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2C78240-4BF2-A096-5A4E-7CD1FE10D61F}"/>
              </a:ext>
            </a:extLst>
          </p:cNvPr>
          <p:cNvSpPr txBox="1"/>
          <p:nvPr/>
        </p:nvSpPr>
        <p:spPr>
          <a:xfrm>
            <a:off x="5115953" y="484367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切換至遊客模式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7BC7E2-AA94-907C-30DD-201D6DD6E240}"/>
              </a:ext>
            </a:extLst>
          </p:cNvPr>
          <p:cNvSpPr txBox="1"/>
          <p:nvPr/>
        </p:nvSpPr>
        <p:spPr>
          <a:xfrm>
            <a:off x="9746400" y="455485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關閉視窗時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538705E-FBA6-48ED-2271-32E0DA465242}"/>
              </a:ext>
            </a:extLst>
          </p:cNvPr>
          <p:cNvSpPr txBox="1"/>
          <p:nvPr/>
        </p:nvSpPr>
        <p:spPr>
          <a:xfrm>
            <a:off x="9166979" y="1755071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切換遊客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0E3F623-7C29-59EF-F3AF-C55159FE0473}"/>
              </a:ext>
            </a:extLst>
          </p:cNvPr>
          <p:cNvSpPr txBox="1"/>
          <p:nvPr/>
        </p:nvSpPr>
        <p:spPr>
          <a:xfrm>
            <a:off x="6096000" y="22361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21DC592-0FAD-CDD6-C76C-3C34F3D975CC}"/>
              </a:ext>
            </a:extLst>
          </p:cNvPr>
          <p:cNvSpPr txBox="1"/>
          <p:nvPr/>
        </p:nvSpPr>
        <p:spPr>
          <a:xfrm>
            <a:off x="6129034" y="417793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9E44951-2238-AC30-233F-D097E64D44E2}"/>
              </a:ext>
            </a:extLst>
          </p:cNvPr>
          <p:cNvSpPr txBox="1"/>
          <p:nvPr/>
        </p:nvSpPr>
        <p:spPr>
          <a:xfrm>
            <a:off x="9047129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840F3C1-ACD2-B1AA-E8D3-5A7F4CE9F7FC}"/>
              </a:ext>
            </a:extLst>
          </p:cNvPr>
          <p:cNvSpPr txBox="1"/>
          <p:nvPr/>
        </p:nvSpPr>
        <p:spPr>
          <a:xfrm>
            <a:off x="871234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935900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55F01-6125-DD7E-55DE-07E8F1CB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AE7F03-3A34-89AB-66A4-A1AB939DC12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總結：一個穩健且可靠的系統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C3274F-345B-C8D7-8D90-A9B1665DCC68}"/>
              </a:ext>
            </a:extLst>
          </p:cNvPr>
          <p:cNvSpPr txBox="1"/>
          <p:nvPr/>
        </p:nvSpPr>
        <p:spPr>
          <a:xfrm>
            <a:off x="871235" y="1874703"/>
            <a:ext cx="4832448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設計成就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物件導向實踐：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成功將系統解構成高內聚、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低耦合模組（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Bank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，每個類別職責分明。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設計模式應用：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有效利用單例模式，確保使　　 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用者與銀行規則管理器的全域唯一性與狀態　　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性一致。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分層清晰：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實現了後端邏輯層與前端表現層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介面）的有效分離，使系統益於維護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與擴展。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09F5085-202B-E094-577D-DB38B8D98317}"/>
              </a:ext>
            </a:extLst>
          </p:cNvPr>
          <p:cNvSpPr txBox="1"/>
          <p:nvPr/>
        </p:nvSpPr>
        <p:spPr>
          <a:xfrm>
            <a:off x="6129034" y="1875339"/>
            <a:ext cx="483244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功能完整性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●完整涵蓋了從使用者身分管理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註冊、登入、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遊客模式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到核心銀行業務（開戶、提款、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存錢、轉帳），再到後台管理（手續費）。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介面動態響應系統狀態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，提供了良好的使用者體驗。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8815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1977</Words>
  <Application>Microsoft Office PowerPoint</Application>
  <PresentationFormat>寬螢幕</PresentationFormat>
  <Paragraphs>183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Times New Roman</vt:lpstr>
      <vt:lpstr>Office 佈景主題</vt:lpstr>
      <vt:lpstr>銀行模擬系統</vt:lpstr>
      <vt:lpstr>系統願景：打造一個多功能的銀行模擬平台</vt:lpstr>
      <vt:lpstr>系統架構設計：四大核心支柱</vt:lpstr>
      <vt:lpstr>核心支柱 I：‘Account’ - 使用者管理的基石</vt:lpstr>
      <vt:lpstr>核心支柱 II：‘Bank’ - 交易執行的單元</vt:lpstr>
      <vt:lpstr>核心支柱 III：‘BankManager’ - 規則的制定者</vt:lpstr>
      <vt:lpstr>指揮中心 ‘Main’：串連邏輯與介面的橋樑</vt:lpstr>
      <vt:lpstr>使用者介面：一個直觀互動的門戶</vt:lpstr>
      <vt:lpstr>身份的起點：使用者註冊與登入</vt:lpstr>
      <vt:lpstr>日常操作：開戶、存提與轉帳</vt:lpstr>
      <vt:lpstr>上帝視角：Root 管理模式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育維 劉</dc:creator>
  <cp:lastModifiedBy>育維 劉</cp:lastModifiedBy>
  <cp:revision>28</cp:revision>
  <dcterms:created xsi:type="dcterms:W3CDTF">2025-12-21T10:17:18Z</dcterms:created>
  <dcterms:modified xsi:type="dcterms:W3CDTF">2025-12-22T10:45:12Z</dcterms:modified>
</cp:coreProperties>
</file>