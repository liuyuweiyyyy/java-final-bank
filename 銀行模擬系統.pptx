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71" r:id="rId7"/>
    <p:sldId id="27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A7E85"/>
    <a:srgbClr val="53ACDE"/>
    <a:srgbClr val="D1845C"/>
    <a:srgbClr val="F1F5F8"/>
    <a:srgbClr val="E3E7EA"/>
    <a:srgbClr val="194465"/>
    <a:srgbClr val="B64A9C"/>
    <a:srgbClr val="C167AC"/>
    <a:srgbClr val="CC81BB"/>
    <a:srgbClr val="BB7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C48E79-4D6D-3227-BC90-ED53100AC8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9CE85F4-D574-FD44-2B5F-6D5460F08D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D73D0-DBEB-2CCB-C952-FF81B6CC2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9BC6EF-EDDE-FBE8-CE38-933931F54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2116B34-7526-6716-64C8-833F6B051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2372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C966D0-1E51-8ABD-BC9A-E4536FBF4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D7C954-76EF-4893-7909-0208CF888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78D6AF-CF42-2B24-35C2-E3FAB873B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3B426C-D6A0-31F0-B071-FC44C498E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4F940E-D29F-A4ED-6E89-2FA13CBE3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3168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3C6CF9-E956-991D-3556-87BDCAE6A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92FD2F1-D5AB-2DFB-CE63-CC21FDD7F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144583B-E81F-FC57-FF07-184D460DF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9C6364-3145-E3FF-86BA-50F0C2F29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1A24C79-30B6-F340-1388-2FB5EC13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2902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D8D2EC-6F65-B1D4-516A-24E1C11E3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2A58F2-108C-48AF-124D-ADC94199E0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256B39-713D-A93A-800E-D9351C550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9793842-AF88-7A5C-63DA-3A636F7AE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B446B17-1D4E-FE93-E1FA-5D8E51AF6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9DD00A-7E91-6FB1-8A80-67B36853B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471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25B7BA-3B50-217A-8C9F-F818C7260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5D14297-B347-663F-B676-F93E6A67B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60C5267-F57D-5CC6-AF60-D50921B4C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7145002-66F4-FA2E-FA91-D13BECFB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A4B9F5C-5B54-C4FA-74D1-6590EE0C4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C63ACBF-BA29-271B-5277-524300791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9D335E2-3EEF-99B6-44E3-8D012BE45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4B82275-BA06-6E95-B380-70F0A7AE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111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9ED383-19BB-FB99-1CC8-C2C6BA704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764F30F-4D0B-1772-4B6E-786F7D0E9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BBD2B1A-CF90-BE43-B015-406B2FA6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F2BEE73-9020-69E2-E194-5D1D7FDE9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3922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61B2600-840C-3D4D-E5B8-8307D0A6B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BA0F1C2-BB43-BE5E-8093-F63DB59F4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490D60-BEA1-D573-DDD2-B9C8D5FFB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2871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627CC-561B-866A-5940-41D4C54E6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B68172-F86C-ED16-3103-91AD9605F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3651C83-9A03-CE83-7F6C-53787D7A63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282892F-CBE5-59B7-88B2-6A064CF34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79568AF-5260-0E70-2E7C-92C1942EC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E91941D-D33B-87D6-019A-39515DB2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7712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CA6787-5430-EBFD-9829-6BA8C779A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D8F4B40-899C-463F-D6AC-2DB0243C94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7AAC91A-E7CF-9A93-E09E-E6EA0A2937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12F098-3ABE-F608-AC53-788E3EB12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B4DFFB1-427F-FDE2-FEE0-8D740E01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FCD09F-BF31-499D-2BC6-93B926117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9650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A29029-D9BF-3F1A-11CD-1102C3A71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F9A3ABF-19FB-5503-6585-2CB1D0DD4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12CA825-AD51-195A-CBD7-151B9CCEF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C9B8235-3CEB-08F2-7925-FBC5E4B9D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D3FB9B6-89CB-ACAD-7280-C6644DD2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3428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060ADA3-15F1-FB10-E687-790D4D9D78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62602DD-8B40-B7FE-5A21-64E05A293B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CFD7D6-9717-C620-4FE7-FFCCBD4F2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4526A02-5CF4-C97A-AAA0-DD203CF88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7D33B43-576B-1B85-C965-C6238D36B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78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FABC6BB-634E-0B02-ABAA-91AB40CD2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4503F43-8334-520A-1FF9-363756DBB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0F1B8F-814D-BA9E-12A8-E32DCA6A7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69788-3567-414E-96B1-B198D10DED12}" type="datetimeFigureOut">
              <a:rPr lang="zh-TW" altLang="en-US" smtClean="0"/>
              <a:t>2025/12/21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CE43A9-73AE-C5AE-DE95-3597FF1106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F88D62-0CDF-3189-540D-8FB2AC52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521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AB29E37-1872-B53C-DD40-AAFFD26867C0}"/>
              </a:ext>
            </a:extLst>
          </p:cNvPr>
          <p:cNvSpPr/>
          <p:nvPr/>
        </p:nvSpPr>
        <p:spPr>
          <a:xfrm>
            <a:off x="10780295" y="6192253"/>
            <a:ext cx="1411704" cy="818147"/>
          </a:xfrm>
          <a:prstGeom prst="rect">
            <a:avLst/>
          </a:prstGeom>
          <a:solidFill>
            <a:srgbClr val="F1F5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pic>
        <p:nvPicPr>
          <p:cNvPr id="6" name="圖片 5" descr="一張含有 寫生, 設計, 藝術 的圖片&#10;&#10;AI 產生的內容可能不正確。">
            <a:extLst>
              <a:ext uri="{FF2B5EF4-FFF2-40B4-BE49-F238E27FC236}">
                <a16:creationId xmlns:a16="http://schemas.microsoft.com/office/drawing/2014/main" id="{30CF3E99-F6DF-6A81-F0BE-AB2F10B9E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432" y="0"/>
            <a:ext cx="7971135" cy="4748396"/>
          </a:xfrm>
          <a:prstGeom prst="rect">
            <a:avLst/>
          </a:prstGeom>
        </p:spPr>
      </p:pic>
      <p:sp>
        <p:nvSpPr>
          <p:cNvPr id="7" name="標題 6">
            <a:extLst>
              <a:ext uri="{FF2B5EF4-FFF2-40B4-BE49-F238E27FC236}">
                <a16:creationId xmlns:a16="http://schemas.microsoft.com/office/drawing/2014/main" id="{19508412-F313-A0D1-18A8-0BCF36064E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3236119"/>
            <a:ext cx="9144000" cy="2387600"/>
          </a:xfrm>
        </p:spPr>
        <p:txBody>
          <a:bodyPr/>
          <a:lstStyle/>
          <a:p>
            <a:r>
              <a:rPr lang="zh-TW" altLang="en-US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銀行模擬系統</a:t>
            </a:r>
          </a:p>
        </p:txBody>
      </p:sp>
      <p:sp>
        <p:nvSpPr>
          <p:cNvPr id="8" name="副標題 7">
            <a:extLst>
              <a:ext uri="{FF2B5EF4-FFF2-40B4-BE49-F238E27FC236}">
                <a16:creationId xmlns:a16="http://schemas.microsoft.com/office/drawing/2014/main" id="{B0B53EA9-FCF8-C7B1-A7CF-0935B10D4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6030119"/>
            <a:ext cx="9144000" cy="1655762"/>
          </a:xfrm>
        </p:spPr>
        <p:txBody>
          <a:bodyPr>
            <a:normAutofit/>
          </a:bodyPr>
          <a:lstStyle/>
          <a:p>
            <a:r>
              <a:rPr lang="zh-TW" altLang="en-US" sz="32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一個物件導向設計與實現的探索</a:t>
            </a:r>
          </a:p>
        </p:txBody>
      </p:sp>
    </p:spTree>
    <p:extLst>
      <p:ext uri="{BB962C8B-B14F-4D97-AF65-F5344CB8AC3E}">
        <p14:creationId xmlns:p14="http://schemas.microsoft.com/office/powerpoint/2010/main" val="1878748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741676-9869-EDC9-A070-DB388B35A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C0C67B5D-53C8-082A-CAA3-F251467EE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系統願景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: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打造一個多功能的銀行模擬平台</a:t>
            </a: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1C81133C-5FDC-0D44-47C0-2FA4A3165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881627"/>
            <a:ext cx="5079749" cy="4508500"/>
          </a:xfrm>
        </p:spPr>
        <p:txBody>
          <a:bodyPr anchor="t">
            <a:normAutofit/>
          </a:bodyPr>
          <a:lstStyle/>
          <a:p>
            <a:pPr algn="just"/>
            <a:r>
              <a:rPr lang="zh-TW" altLang="en-US" sz="2600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專案目標 </a:t>
            </a:r>
            <a:r>
              <a:rPr lang="en-US" altLang="zh-TW" dirty="0">
                <a:latin typeface="Times New Roman" panose="02020603050405020304" pitchFamily="18" charset="0"/>
                <a:ea typeface="新細明體" panose="02020500000000000000" pitchFamily="18" charset="-12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新細明體" panose="02020500000000000000" pitchFamily="18" charset="-120"/>
              </a:rPr>
              <a:t>設計一個基於</a:t>
            </a:r>
            <a:r>
              <a:rPr lang="en-US" altLang="zh-TW" dirty="0">
                <a:latin typeface="Times New Roman" panose="02020603050405020304" pitchFamily="18" charset="0"/>
                <a:ea typeface="新細明體" panose="02020500000000000000" pitchFamily="18" charset="-120"/>
              </a:rPr>
              <a:t>Java Swing</a:t>
            </a:r>
            <a:r>
              <a:rPr lang="zh-TW" altLang="en-US" dirty="0">
                <a:latin typeface="Times New Roman" panose="02020603050405020304" pitchFamily="18" charset="0"/>
                <a:ea typeface="新細明體" panose="02020500000000000000" pitchFamily="18" charset="-120"/>
              </a:rPr>
              <a:t>的銀行</a:t>
            </a:r>
            <a:r>
              <a:rPr lang="zh-TW" altLang="en-US">
                <a:latin typeface="Times New Roman" panose="02020603050405020304" pitchFamily="18" charset="0"/>
                <a:ea typeface="新細明體" panose="02020500000000000000" pitchFamily="18" charset="-120"/>
              </a:rPr>
              <a:t>模擬系統，該</a:t>
            </a:r>
            <a:r>
              <a:rPr lang="zh-TW" altLang="en-US" dirty="0">
                <a:latin typeface="Times New Roman" panose="02020603050405020304" pitchFamily="18" charset="0"/>
                <a:ea typeface="新細明體" panose="02020500000000000000" pitchFamily="18" charset="-120"/>
              </a:rPr>
              <a:t>系統應具備使用者管理、多銀行帳戶操作及後台管理管理等</a:t>
            </a:r>
            <a:r>
              <a:rPr lang="zh-TW" altLang="en-US">
                <a:latin typeface="Times New Roman" panose="02020603050405020304" pitchFamily="18" charset="0"/>
                <a:ea typeface="新細明體" panose="02020500000000000000" pitchFamily="18" charset="-120"/>
              </a:rPr>
              <a:t>核心功能，並</a:t>
            </a:r>
            <a:r>
              <a:rPr lang="zh-TW" altLang="en-US" dirty="0">
                <a:latin typeface="Times New Roman" panose="02020603050405020304" pitchFamily="18" charset="0"/>
                <a:ea typeface="新細明體" panose="02020500000000000000" pitchFamily="18" charset="-120"/>
              </a:rPr>
              <a:t>以物件導向原則進行架構。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DE8F03CE-8723-6859-60DE-C6F12C4111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35788" y="1677905"/>
            <a:ext cx="5009982" cy="957140"/>
          </a:xfrm>
        </p:spPr>
        <p:txBody>
          <a:bodyPr anchor="t">
            <a:normAutofit/>
          </a:bodyPr>
          <a:lstStyle/>
          <a:p>
            <a:pPr algn="just"/>
            <a:r>
              <a:rPr lang="zh-TW" altLang="en-US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使用者系統 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: 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支持多使用者註冊、登入與登出。提供一個獨立的「遊客</a:t>
            </a:r>
            <a:r>
              <a:rPr lang="zh-TW" altLang="en-US" sz="2000" b="0">
                <a:latin typeface="Times New Roman" panose="02020603050405020304" pitchFamily="18" charset="0"/>
                <a:ea typeface="新細明體" panose="02020500000000000000" pitchFamily="18" charset="-120"/>
              </a:rPr>
              <a:t>」模式，所有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使用者資料在切換帳號或登出時會自動保存。</a:t>
            </a:r>
          </a:p>
        </p:txBody>
      </p:sp>
      <p:pic>
        <p:nvPicPr>
          <p:cNvPr id="12" name="內容版面配置區 11" descr="一張含有 寫生, 圖畫, 設計, 印刷術 的圖片&#10;&#10;AI 產生的內容可能不正確。">
            <a:extLst>
              <a:ext uri="{FF2B5EF4-FFF2-40B4-BE49-F238E27FC236}">
                <a16:creationId xmlns:a16="http://schemas.microsoft.com/office/drawing/2014/main" id="{A3DFC147-9ACA-2412-6FAC-F31B1D83088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5919537" y="1681163"/>
            <a:ext cx="946484" cy="4392926"/>
          </a:xfrm>
          <a:prstGeom prst="rect">
            <a:avLst/>
          </a:prstGeom>
        </p:spPr>
      </p:pic>
      <p:sp>
        <p:nvSpPr>
          <p:cNvPr id="13" name="文字版面配置區 8">
            <a:extLst>
              <a:ext uri="{FF2B5EF4-FFF2-40B4-BE49-F238E27FC236}">
                <a16:creationId xmlns:a16="http://schemas.microsoft.com/office/drawing/2014/main" id="{BA583764-E9BB-AF71-0B3A-B3200E735DC9}"/>
              </a:ext>
            </a:extLst>
          </p:cNvPr>
          <p:cNvSpPr txBox="1">
            <a:spLocks/>
          </p:cNvSpPr>
          <p:nvPr/>
        </p:nvSpPr>
        <p:spPr>
          <a:xfrm>
            <a:off x="6935788" y="2895035"/>
            <a:ext cx="5009982" cy="11903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銀行業務 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: 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使用者可以對系統內的多家銀行</a:t>
            </a:r>
            <a:r>
              <a:rPr lang="en-US" altLang="zh-TW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(A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、</a:t>
            </a:r>
            <a:r>
              <a:rPr lang="en-US" altLang="zh-TW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B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、</a:t>
            </a:r>
            <a:r>
              <a:rPr lang="en-US" altLang="zh-TW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C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銀行</a:t>
            </a:r>
            <a:r>
              <a:rPr lang="en-US" altLang="zh-TW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)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進行開戶、存款、提款及跨行轉帳。</a:t>
            </a:r>
          </a:p>
        </p:txBody>
      </p:sp>
      <p:sp>
        <p:nvSpPr>
          <p:cNvPr id="14" name="文字版面配置區 8">
            <a:extLst>
              <a:ext uri="{FF2B5EF4-FFF2-40B4-BE49-F238E27FC236}">
                <a16:creationId xmlns:a16="http://schemas.microsoft.com/office/drawing/2014/main" id="{34A8E66E-E534-2E5B-4265-F8B2CF5B4466}"/>
              </a:ext>
            </a:extLst>
          </p:cNvPr>
          <p:cNvSpPr txBox="1">
            <a:spLocks/>
          </p:cNvSpPr>
          <p:nvPr/>
        </p:nvSpPr>
        <p:spPr>
          <a:xfrm>
            <a:off x="6935788" y="4085409"/>
            <a:ext cx="5009982" cy="10946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管理員模式 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: 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提供特殊的 </a:t>
            </a:r>
            <a:r>
              <a:rPr lang="en-US" altLang="zh-TW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“root</a:t>
            </a:r>
            <a:r>
              <a:rPr lang="en-US" altLang="zh-TW" sz="2000" b="0">
                <a:latin typeface="Times New Roman" panose="02020603050405020304" pitchFamily="18" charset="0"/>
                <a:ea typeface="新細明體" panose="02020500000000000000" pitchFamily="18" charset="-120"/>
              </a:rPr>
              <a:t>” </a:t>
            </a:r>
            <a:r>
              <a:rPr lang="zh-TW" altLang="en-US" sz="2000" b="0">
                <a:latin typeface="Times New Roman" panose="02020603050405020304" pitchFamily="18" charset="0"/>
                <a:ea typeface="新細明體" panose="02020500000000000000" pitchFamily="18" charset="-120"/>
              </a:rPr>
              <a:t>模式，允許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管理者動態設定不同銀行間的跨行轉帳手續費。</a:t>
            </a:r>
          </a:p>
        </p:txBody>
      </p:sp>
      <p:sp>
        <p:nvSpPr>
          <p:cNvPr id="15" name="文字版面配置區 8">
            <a:extLst>
              <a:ext uri="{FF2B5EF4-FFF2-40B4-BE49-F238E27FC236}">
                <a16:creationId xmlns:a16="http://schemas.microsoft.com/office/drawing/2014/main" id="{67348A08-B15F-FFCA-16C5-038B9F05029E}"/>
              </a:ext>
            </a:extLst>
          </p:cNvPr>
          <p:cNvSpPr txBox="1">
            <a:spLocks/>
          </p:cNvSpPr>
          <p:nvPr/>
        </p:nvSpPr>
        <p:spPr>
          <a:xfrm>
            <a:off x="6935788" y="5176837"/>
            <a:ext cx="5009982" cy="10946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圖形化介面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(GUI) : 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提供一個直觀且反應迅速的</a:t>
            </a:r>
            <a:r>
              <a:rPr lang="zh-TW" altLang="en-US" sz="2000" b="0">
                <a:latin typeface="Times New Roman" panose="02020603050405020304" pitchFamily="18" charset="0"/>
                <a:ea typeface="新細明體" panose="02020500000000000000" pitchFamily="18" charset="-120"/>
              </a:rPr>
              <a:t>圖形介面，讓</a:t>
            </a:r>
            <a:r>
              <a:rPr lang="zh-TW" altLang="en-US" sz="2000" b="0" dirty="0">
                <a:latin typeface="Times New Roman" panose="02020603050405020304" pitchFamily="18" charset="0"/>
                <a:ea typeface="新細明體" panose="02020500000000000000" pitchFamily="18" charset="-120"/>
              </a:rPr>
              <a:t>所有操作都能透過對話框和按鈕完成。</a:t>
            </a:r>
          </a:p>
        </p:txBody>
      </p:sp>
    </p:spTree>
    <p:extLst>
      <p:ext uri="{BB962C8B-B14F-4D97-AF65-F5344CB8AC3E}">
        <p14:creationId xmlns:p14="http://schemas.microsoft.com/office/powerpoint/2010/main" val="234571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145727-3904-E697-016F-8240E2663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56A47C-E906-3C48-7D2E-FA42DC605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系統架構設計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: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四大核心支柱</a:t>
            </a:r>
          </a:p>
        </p:txBody>
      </p:sp>
      <p:pic>
        <p:nvPicPr>
          <p:cNvPr id="6" name="內容版面配置區 5" descr="一張含有 文字, 字型, 螢幕擷取畫面, 行 的圖片&#10;&#10;AI 產生的內容可能不正確。">
            <a:extLst>
              <a:ext uri="{FF2B5EF4-FFF2-40B4-BE49-F238E27FC236}">
                <a16:creationId xmlns:a16="http://schemas.microsoft.com/office/drawing/2014/main" id="{7D0551C3-7AAA-73E7-90BC-046E5D4A6CD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64920" y="1902615"/>
            <a:ext cx="10814560" cy="4590260"/>
          </a:xfrm>
          <a:prstGeom prst="rect">
            <a:avLst/>
          </a:prstGeo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ABDF681-BF40-22DB-A35E-62CFDDDE8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443790"/>
            <a:ext cx="10515600" cy="4588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zh-TW" altLang="en-US" sz="1900" dirty="0"/>
              <a:t>系統圍繞四個核心</a:t>
            </a:r>
            <a:r>
              <a:rPr lang="en-US" altLang="zh-TW" sz="1900" dirty="0"/>
              <a:t>Java</a:t>
            </a:r>
            <a:r>
              <a:rPr lang="zh-TW" altLang="en-US" sz="1900" dirty="0"/>
              <a:t>類別</a:t>
            </a:r>
            <a:r>
              <a:rPr lang="zh-TW" altLang="en-US" sz="1900"/>
              <a:t>建構，每</a:t>
            </a:r>
            <a:r>
              <a:rPr lang="zh-TW" altLang="en-US" sz="1900" dirty="0"/>
              <a:t>個類別都有明確</a:t>
            </a:r>
            <a:r>
              <a:rPr lang="zh-TW" altLang="en-US" sz="1900"/>
              <a:t>的職責，實現</a:t>
            </a:r>
            <a:r>
              <a:rPr lang="zh-TW" altLang="en-US" sz="1900" dirty="0"/>
              <a:t>了高度模組化和低耦合的設計。</a:t>
            </a:r>
          </a:p>
        </p:txBody>
      </p:sp>
    </p:spTree>
    <p:extLst>
      <p:ext uri="{BB962C8B-B14F-4D97-AF65-F5344CB8AC3E}">
        <p14:creationId xmlns:p14="http://schemas.microsoft.com/office/powerpoint/2010/main" val="3279701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835FF-0F23-352F-7E4C-40997B1E2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6A3356-0DD5-821E-41A8-DDF2756B9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I : ‘Account’ -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使用者管理的基石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DEA89E-924F-DEDB-ED48-9BF265ABB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4747896"/>
          </a:xfrm>
          <a:solidFill>
            <a:srgbClr val="E3E7EA"/>
          </a:solidFill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 class </a:t>
            </a:r>
            <a:r>
              <a:rPr lang="en-US" altLang="zh-TW" sz="1400" dirty="0">
                <a:latin typeface="Times New Roman" panose="02020603050405020304" pitchFamily="18" charset="0"/>
              </a:rPr>
              <a:t>Account{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 static </a:t>
            </a:r>
            <a:r>
              <a:rPr lang="en-US" altLang="zh-TW" sz="1400" dirty="0">
                <a:latin typeface="Times New Roman" panose="02020603050405020304" pitchFamily="18" charset="0"/>
              </a:rPr>
              <a:t>Account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</a:t>
            </a:r>
            <a:r>
              <a:rPr lang="en-US" altLang="zh-TW" sz="1400" dirty="0">
                <a:latin typeface="Times New Roman" panose="02020603050405020304" pitchFamily="18" charset="0"/>
              </a:rPr>
              <a:t> Map</a:t>
            </a:r>
            <a:r>
              <a:rPr lang="en-US" altLang="zh-TW" sz="1400">
                <a:latin typeface="Times New Roman" panose="02020603050405020304" pitchFamily="18" charset="0"/>
              </a:rPr>
              <a:t>&lt;String, </a:t>
            </a:r>
            <a:r>
              <a:rPr lang="en-US" altLang="zh-TW" sz="1400" dirty="0" err="1">
                <a:latin typeface="Times New Roman" panose="02020603050405020304" pitchFamily="18" charset="0"/>
              </a:rPr>
              <a:t>UserData</a:t>
            </a:r>
            <a:r>
              <a:rPr lang="en-US" altLang="zh-TW" sz="1400" dirty="0">
                <a:latin typeface="Times New Roman" panose="02020603050405020304" pitchFamily="18" charset="0"/>
              </a:rPr>
              <a:t>&gt;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users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 static class </a:t>
            </a:r>
            <a:r>
              <a:rPr lang="en-US" altLang="zh-TW" sz="1400" dirty="0" err="1">
                <a:latin typeface="Times New Roman" panose="02020603050405020304" pitchFamily="18" charset="0"/>
              </a:rPr>
              <a:t>UserData</a:t>
            </a:r>
            <a:r>
              <a:rPr lang="en-US" altLang="zh-TW" sz="14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String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username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String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password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400" dirty="0">
                <a:latin typeface="Times New Roman" panose="02020603050405020304" pitchFamily="18" charset="0"/>
              </a:rPr>
              <a:t>[] </a:t>
            </a:r>
            <a:r>
              <a:rPr lang="en-US" altLang="zh-TW" sz="1400" dirty="0" err="1">
                <a:solidFill>
                  <a:srgbClr val="B64A9C"/>
                </a:solidFill>
                <a:latin typeface="Times New Roman" panose="02020603050405020304" pitchFamily="18" charset="0"/>
              </a:rPr>
              <a:t>bankBaalances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400" dirty="0">
                <a:latin typeface="Times New Roman" panose="02020603050405020304" pitchFamily="18" charset="0"/>
              </a:rPr>
              <a:t>[] </a:t>
            </a:r>
            <a:r>
              <a:rPr lang="en-US" altLang="zh-TW" sz="1400" dirty="0" err="1">
                <a:solidFill>
                  <a:srgbClr val="B64A9C"/>
                </a:solidFill>
                <a:latin typeface="Times New Roman" panose="02020603050405020304" pitchFamily="18" charset="0"/>
              </a:rPr>
              <a:t>isBankOpened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… constructor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</a:t>
            </a:r>
            <a:r>
              <a:rPr lang="en-US" altLang="zh-TW" sz="14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53ACDE"/>
                </a:solidFill>
                <a:latin typeface="Times New Roman" panose="02020603050405020304" pitchFamily="18" charset="0"/>
              </a:rPr>
              <a:t>Account</a:t>
            </a:r>
            <a:r>
              <a:rPr lang="en-US" altLang="zh-TW" sz="1400" dirty="0">
                <a:latin typeface="Times New Roman" panose="02020603050405020304" pitchFamily="18" charset="0"/>
              </a:rPr>
              <a:t>(){ </a:t>
            </a:r>
            <a:r>
              <a:rPr lang="en-US" altLang="zh-TW" sz="1400" dirty="0">
                <a:solidFill>
                  <a:srgbClr val="7A7E85"/>
                </a:solidFill>
                <a:latin typeface="Times New Roman" panose="02020603050405020304" pitchFamily="18" charset="0"/>
              </a:rPr>
              <a:t>// … constructor </a:t>
            </a:r>
            <a:r>
              <a:rPr lang="en-US" altLang="zh-TW" sz="1400" dirty="0">
                <a:latin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zh-TW" sz="1400" dirty="0">
                <a:latin typeface="Times New Roman" panose="02020603050405020304" pitchFamily="18" charset="0"/>
              </a:rPr>
              <a:t> Account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getInstance</a:t>
            </a:r>
            <a:r>
              <a:rPr lang="en-US" altLang="zh-TW" sz="1400" dirty="0">
                <a:latin typeface="Times New Roman" panose="02020603050405020304" pitchFamily="18" charset="0"/>
              </a:rPr>
              <a:t>(){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if</a:t>
            </a:r>
            <a:r>
              <a:rPr lang="en-US" altLang="zh-TW" sz="1400" dirty="0">
                <a:latin typeface="Times New Roman" panose="02020603050405020304" pitchFamily="18" charset="0"/>
              </a:rPr>
              <a:t>(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 ==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null</a:t>
            </a:r>
            <a:r>
              <a:rPr lang="en-US" altLang="zh-TW" sz="1400" dirty="0">
                <a:latin typeface="Times New Roman" panose="02020603050405020304" pitchFamily="18" charset="0"/>
              </a:rPr>
              <a:t>){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 =</a:t>
            </a: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new</a:t>
            </a:r>
            <a:r>
              <a:rPr lang="en-US" altLang="zh-TW" sz="1400" dirty="0">
                <a:latin typeface="Times New Roman" panose="02020603050405020304" pitchFamily="18" charset="0"/>
              </a:rPr>
              <a:t> Account();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return</a:t>
            </a:r>
            <a:r>
              <a:rPr lang="en-US" altLang="zh-TW" sz="14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}</a:t>
            </a:r>
            <a:endParaRPr lang="zh-TW" altLang="en-US" sz="1400" dirty="0">
              <a:latin typeface="Times New Roman" panose="02020603050405020304" pitchFamily="18" charset="0"/>
            </a:endParaRPr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2ECBACC0-A215-8CDE-FBF0-4A840214D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554856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職責</a:t>
            </a:r>
            <a:endParaRPr lang="en-US" altLang="zh-TW" sz="24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r>
              <a:rPr lang="zh-TW" altLang="en-US" sz="1600" dirty="0">
                <a:latin typeface="Times New Roman" panose="02020603050405020304" pitchFamily="18" charset="0"/>
                <a:ea typeface="細明體" panose="02020509000000000000" pitchFamily="49" charset="-120"/>
              </a:rPr>
              <a:t>統一管理所有使用者帳號、密碼、登入狀態以及其對應的所有銀行帳戶資料。</a:t>
            </a:r>
            <a:endParaRPr lang="en-US" altLang="zh-TW" sz="16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endParaRPr lang="en-US" altLang="zh-TW" sz="16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設計模式</a:t>
            </a:r>
            <a:endParaRPr lang="en-US" altLang="zh-TW" sz="24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r>
              <a:rPr lang="zh-TW" altLang="en-US" sz="1600" dirty="0">
                <a:latin typeface="Times New Roman" panose="02020603050405020304" pitchFamily="18" charset="0"/>
                <a:ea typeface="細明體" panose="02020509000000000000" pitchFamily="49" charset="-120"/>
              </a:rPr>
              <a:t>採用 </a:t>
            </a:r>
            <a:r>
              <a:rPr lang="zh-TW" altLang="en-US"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單例模式</a:t>
            </a:r>
            <a:r>
              <a:rPr lang="en-US" altLang="zh-TW"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(Singleton Pattern</a:t>
            </a:r>
            <a:r>
              <a:rPr lang="en-US" altLang="zh-TW" sz="160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)</a:t>
            </a:r>
            <a:r>
              <a:rPr lang="zh-TW" altLang="en-US" sz="1600">
                <a:latin typeface="Times New Roman" panose="02020603050405020304" pitchFamily="18" charset="0"/>
                <a:ea typeface="細明體" panose="02020509000000000000" pitchFamily="49" charset="-120"/>
              </a:rPr>
              <a:t> ，透過 </a:t>
            </a:r>
            <a:r>
              <a:rPr lang="en-US" altLang="zh-TW" sz="1600" dirty="0">
                <a:latin typeface="Times New Roman" panose="02020603050405020304" pitchFamily="18" charset="0"/>
                <a:ea typeface="細明體" panose="02020509000000000000" pitchFamily="49" charset="-120"/>
              </a:rPr>
              <a:t>‘</a:t>
            </a:r>
            <a:r>
              <a:rPr lang="en-US" altLang="zh-TW" sz="16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getInstance</a:t>
            </a:r>
            <a:r>
              <a:rPr lang="en-US" altLang="zh-TW" sz="1600" dirty="0">
                <a:latin typeface="Times New Roman" panose="02020603050405020304" pitchFamily="18" charset="0"/>
                <a:ea typeface="細明體" panose="02020509000000000000" pitchFamily="49" charset="-120"/>
              </a:rPr>
              <a:t>()’</a:t>
            </a:r>
            <a:r>
              <a:rPr lang="zh-TW" altLang="en-US" sz="1600" dirty="0">
                <a:latin typeface="Times New Roman" panose="02020603050405020304" pitchFamily="18" charset="0"/>
                <a:ea typeface="細明體" panose="02020509000000000000" pitchFamily="49" charset="-120"/>
              </a:rPr>
              <a:t> 方法確保系統中只有一個帳戶</a:t>
            </a:r>
            <a:r>
              <a:rPr lang="zh-TW" altLang="en-US" sz="1600">
                <a:latin typeface="Times New Roman" panose="02020603050405020304" pitchFamily="18" charset="0"/>
                <a:ea typeface="細明體" panose="02020509000000000000" pitchFamily="49" charset="-120"/>
              </a:rPr>
              <a:t>管理實例，避免</a:t>
            </a:r>
            <a:r>
              <a:rPr lang="zh-TW" altLang="en-US" sz="1600" dirty="0">
                <a:latin typeface="Times New Roman" panose="02020603050405020304" pitchFamily="18" charset="0"/>
                <a:ea typeface="細明體" panose="02020509000000000000" pitchFamily="49" charset="-120"/>
              </a:rPr>
              <a:t>資料不同。</a:t>
            </a:r>
            <a:endParaRPr lang="en-US" altLang="zh-TW" sz="16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endParaRPr lang="en-US" altLang="zh-TW" sz="16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關鍵機制</a:t>
            </a:r>
            <a:endParaRPr lang="en-US" altLang="zh-TW" sz="24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algn="just">
              <a:lnSpc>
                <a:spcPct val="110000"/>
              </a:lnSpc>
            </a:pPr>
            <a:r>
              <a:rPr lang="en-US" altLang="zh-TW" sz="1600" b="1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UserData</a:t>
            </a:r>
            <a:r>
              <a:rPr lang="zh-TW" altLang="en-US" sz="16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 靜態內部類別 </a:t>
            </a:r>
            <a:r>
              <a:rPr lang="en-US" altLang="zh-TW" sz="1600" dirty="0">
                <a:latin typeface="Times New Roman" panose="02020603050405020304" pitchFamily="18" charset="0"/>
                <a:ea typeface="細明體" panose="02020509000000000000" pitchFamily="49" charset="-120"/>
              </a:rPr>
              <a:t>: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HashMap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將使用者名稱映射到一個 </a:t>
            </a:r>
            <a:r>
              <a:rPr lang="en-US" altLang="zh-TW" sz="1500" b="1" err="1">
                <a:latin typeface="Times New Roman" panose="02020603050405020304" pitchFamily="18" charset="0"/>
                <a:ea typeface="細明體" panose="02020509000000000000" pitchFamily="49" charset="-120"/>
              </a:rPr>
              <a:t>UserData</a:t>
            </a:r>
            <a:r>
              <a:rPr lang="en-US" altLang="zh-TW" sz="1500" b="1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zh-TW" altLang="en-US" sz="1500">
                <a:latin typeface="Times New Roman" panose="02020603050405020304" pitchFamily="18" charset="0"/>
                <a:ea typeface="細明體" panose="02020509000000000000" pitchFamily="49" charset="-120"/>
              </a:rPr>
              <a:t>物件，此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物件包含該使用者的密碼、各銀行餘額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bankBalances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)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和開戶狀態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isBankOpened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)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。</a:t>
            </a: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algn="just">
              <a:lnSpc>
                <a:spcPct val="110000"/>
              </a:lnSpc>
            </a:pPr>
            <a:r>
              <a:rPr lang="en-US" altLang="zh-TW" sz="1500" b="1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saveUserData</a:t>
            </a:r>
            <a:r>
              <a:rPr lang="en-US" altLang="zh-TW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() / </a:t>
            </a:r>
            <a:r>
              <a:rPr lang="en-US" altLang="zh-TW" sz="1500" b="1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loadUerData</a:t>
            </a:r>
            <a:r>
              <a:rPr lang="en-US" altLang="zh-TW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()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: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核心的資料持久化方法。在使用者登入前、後或成功操作</a:t>
            </a:r>
            <a:r>
              <a:rPr lang="zh-TW" altLang="en-US" sz="1500">
                <a:latin typeface="Times New Roman" panose="02020603050405020304" pitchFamily="18" charset="0"/>
                <a:ea typeface="細明體" panose="02020509000000000000" pitchFamily="49" charset="-120"/>
              </a:rPr>
              <a:t>後出發，確保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每個使用者的銀行狀態能在不同會話間完整保存及讀取。</a:t>
            </a: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33092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483845-9233-5811-F71C-46EDB0AFF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0C1E7F8-A517-E4B6-43A6-2D263B87E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II : ‘Bank’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- </a:t>
            </a:r>
            <a:r>
              <a:rPr lang="zh-TW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交易執行的單元</a:t>
            </a:r>
            <a:endParaRPr lang="zh-TW" altLang="en-US" sz="4000" b="1" dirty="0">
              <a:solidFill>
                <a:srgbClr val="194465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6600133-E25F-7852-F97E-7C966B5B36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代表一個獨立的銀行帳戶，封裝了所有核心的金融操作邏輯，如開戶、存提款與轉帳。</a:t>
            </a: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核心屬性</a:t>
            </a:r>
            <a:endParaRPr lang="en-US" altLang="zh-TW" sz="22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private int coin: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帳戶餘額。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private 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boolean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 open :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帳戶是否已開立。</a:t>
            </a: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algn="just">
              <a:lnSpc>
                <a:spcPct val="80000"/>
              </a:lnSpc>
            </a:pP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關鍵功能</a:t>
            </a:r>
            <a:endParaRPr lang="en-US" altLang="zh-TW" sz="22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open_an_account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money)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: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開立新帳戶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並設定初始金額。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saveMoney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money)/</a:t>
            </a:r>
            <a:r>
              <a:rPr lang="en-US" altLang="zh-TW" sz="1600" dirty="0">
                <a:latin typeface="Times New Roman" panose="02020603050405020304" pitchFamily="18" charset="0"/>
              </a:rPr>
              <a:t> </a:t>
            </a:r>
            <a:r>
              <a:rPr lang="en-US" altLang="zh-TW" sz="1600" dirty="0" err="1">
                <a:latin typeface="Times New Roman" panose="02020603050405020304" pitchFamily="18" charset="0"/>
              </a:rPr>
              <a:t>receiveMoney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money)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: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 執行存款與提款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包含餘額檢查。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transferMoney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(Bank to, int money)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: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 處理轉帳邏輯。此方法會呼叫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`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BankManager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來獲取手續費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並計算總扣款額。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65208CAE-01AF-CD93-82D7-CCD997915F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0588" y="1825625"/>
            <a:ext cx="5033211" cy="4667250"/>
          </a:xfrm>
          <a:solidFill>
            <a:srgbClr val="E3E7EA"/>
          </a:solidFill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class</a:t>
            </a:r>
            <a:r>
              <a:rPr lang="en-US" altLang="zh-TW" sz="1300" dirty="0">
                <a:latin typeface="Times New Roman" panose="02020603050405020304" pitchFamily="18" charset="0"/>
              </a:rPr>
              <a:t> Bank{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open_an_account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已開戶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設定初始金額並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true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saveMoney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已開戶 累加金額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receiveMoney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or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錢不夠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 取出金額並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true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transferMoney</a:t>
            </a:r>
            <a:r>
              <a:rPr lang="en-US" altLang="zh-TW" sz="1300" dirty="0">
                <a:latin typeface="Times New Roman" panose="02020603050405020304" pitchFamily="18" charset="0"/>
              </a:rPr>
              <a:t>(Bank to,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/*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若是雙方有沒開戶的或是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this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銀行的錢不夠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this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銀行取出金額給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的銀行 *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/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}</a:t>
            </a:r>
            <a:endParaRPr lang="zh-TW" altLang="en-US" sz="13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73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2F8C9B-CF22-7110-0946-0C37BC286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F01389-C851-31BE-85A2-2E40311F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III : ‘</a:t>
            </a:r>
            <a:r>
              <a:rPr lang="en-US" altLang="zh-TW" sz="4000" b="1" dirty="0" err="1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BankManager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’ -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規則的制定者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D777F23B-9E43-1965-1A16-73464778A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集中管理全域性的銀行規則，例如跨行手續費，並提供管理員權限的切換功能。</a:t>
            </a: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設計模式</a:t>
            </a:r>
            <a:endParaRPr lang="en-US" altLang="zh-TW" sz="22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同樣採用 </a:t>
            </a:r>
            <a:r>
              <a:rPr lang="zh-TW" altLang="en-US" sz="15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單例模式</a:t>
            </a:r>
            <a:r>
              <a:rPr lang="en-US" altLang="zh-TW" sz="15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(Singleton Pattern)</a:t>
            </a:r>
            <a:r>
              <a:rPr lang="zh-TW" altLang="en-US" sz="15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，確保手續費等全域規則在系統中的唯一性和一致性。</a:t>
            </a: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關鍵功能</a:t>
            </a:r>
            <a:endParaRPr lang="en-US" altLang="zh-TW" sz="22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setHandlingFee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to, int fee) :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只有在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"root"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模式下才能成功調用，用以設定銀行間的轉帳手續費。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getHandlingFee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to)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: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提供給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Bank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類別在計算轉帳時查詢手續費。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enterRootMode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() / 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exitRootMode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: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切換系統進入或退出管理員模式。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’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isRootMode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’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屬性會影響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GUI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的顯示與可用功能。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4EF30FB-3CB7-5459-DB41-7397BB79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0588" y="1825625"/>
            <a:ext cx="5033211" cy="4667250"/>
          </a:xfrm>
          <a:solidFill>
            <a:srgbClr val="E3E7EA"/>
          </a:solidFill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class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latin typeface="Times New Roman" panose="02020603050405020304" pitchFamily="18" charset="0"/>
              </a:rPr>
              <a:t>BankManager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setHandlingFee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to, int fee)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非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反之調整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from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銀行到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銀行的手續費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getHandlingFee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to){</a:t>
            </a:r>
            <a:endParaRPr lang="en-US" altLang="zh-TW" sz="1300" dirty="0"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獲得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from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銀行到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銀行的手續費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void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enterRootMode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開啟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zh-TW" altLang="en-US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void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exitRootMode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關閉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}</a:t>
            </a:r>
            <a:endParaRPr lang="zh-TW" altLang="en-US" sz="13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452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B2CF2-1632-8261-B535-ED6C147A0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6C2C828-0788-123F-BD21-655D242E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指揮中心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‘Main’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: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串連邏輯與介面的橋樑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FA35338-4AAB-698C-8537-45B872B93A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555510"/>
          </a:xfrm>
        </p:spPr>
        <p:txBody>
          <a:bodyPr>
            <a:normAutofit fontScale="925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buNone/>
            </a:pPr>
            <a:r>
              <a:rPr lang="en-US" altLang="zh-TW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1. </a:t>
            </a:r>
            <a:r>
              <a:rPr lang="zh-TW" altLang="en-US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初始化系統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程式啟動時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創建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‘Bank’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、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‘Account’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，和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‘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BankManager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’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的單例實例。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2. </a:t>
            </a:r>
            <a:r>
              <a:rPr lang="zh-TW" altLang="en-US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建構</a:t>
            </a:r>
            <a:r>
              <a:rPr lang="en-US" altLang="zh-TW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GUI</a:t>
            </a:r>
            <a:r>
              <a:rPr lang="zh-TW" altLang="en-US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介面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Java Swing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建立所有視覺元件，包括主視窗、文字區域、按鈕面板及設定選單。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3. </a:t>
            </a:r>
            <a:r>
              <a:rPr lang="zh-TW" altLang="en-US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事件處理</a:t>
            </a:r>
            <a:r>
              <a:rPr lang="en-US" altLang="zh-TW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(Event Handling)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為所有按鈕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如「轉帳」、「開戶」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)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添加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‘ActionListener’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，將使用者的點擊事件連結到後端業務邏輯的調用。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4. </a:t>
            </a:r>
            <a:r>
              <a:rPr lang="zh-TW" altLang="en-US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狀態更新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根據後端資料的變化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即時調用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‘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printMain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()’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和 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‘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updateLabels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()’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方法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刷新介面上顯示的餘額、使用者名稱和銀行狀態。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5. </a:t>
            </a:r>
            <a:r>
              <a:rPr lang="zh-TW" altLang="en-US" sz="15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動態介面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根據 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BankManager.isRootMode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()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的狀態，調用</a:t>
            </a:r>
            <a:r>
              <a:rPr lang="en-US" altLang="zh-TW" sz="15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updateSidebar</a:t>
            </a:r>
            <a:r>
              <a:rPr lang="en-US" altLang="zh-TW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() </a:t>
            </a:r>
            <a:r>
              <a:rPr lang="zh-TW" altLang="en-US" sz="1500" dirty="0">
                <a:latin typeface="Times New Roman" panose="02020603050405020304" pitchFamily="18" charset="0"/>
                <a:ea typeface="細明體" panose="02020509000000000000" pitchFamily="49" charset="-120"/>
              </a:rPr>
              <a:t>來動態切換使用者按鈕和管理者按鈕。</a:t>
            </a:r>
          </a:p>
        </p:txBody>
      </p:sp>
      <p:pic>
        <p:nvPicPr>
          <p:cNvPr id="8" name="內容版面配置區 7" descr="一張含有 圖表, 螢幕擷取畫面, 文字, 行 的圖片&#10;&#10;AI 產生的內容可能不正確。">
            <a:extLst>
              <a:ext uri="{FF2B5EF4-FFF2-40B4-BE49-F238E27FC236}">
                <a16:creationId xmlns:a16="http://schemas.microsoft.com/office/drawing/2014/main" id="{86C018DF-80C8-5C06-CD7A-42FB0D2851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407477"/>
            <a:ext cx="5181600" cy="339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512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01BBFB-2E3E-880A-C96C-60EB655BE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618CA0-51C2-1494-D5B5-B8410004F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使用者介面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: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一個直觀互動的門戶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0E508F-5045-DABC-DC51-364B3C73DD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2941320" cy="466725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TW" sz="2000" b="1" dirty="0"/>
              <a:t>1. </a:t>
            </a:r>
            <a:r>
              <a:rPr lang="zh-TW" altLang="en-US" sz="2000" b="1" dirty="0"/>
              <a:t>使用者狀態區 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</a:t>
            </a:r>
            <a:endParaRPr lang="en-US" altLang="zh-TW" sz="2000" b="1" dirty="0"/>
          </a:p>
          <a:p>
            <a:pPr marL="216000" indent="0" algn="just">
              <a:buNone/>
            </a:pPr>
            <a:r>
              <a:rPr lang="zh-TW" altLang="en-US" sz="1800" dirty="0"/>
              <a:t>顯示「當前使用者</a:t>
            </a:r>
            <a:r>
              <a:rPr lang="en-US" altLang="zh-TW" sz="1800" dirty="0"/>
              <a:t>:</a:t>
            </a:r>
            <a:r>
              <a:rPr lang="zh-TW" altLang="en-US" sz="1800" dirty="0"/>
              <a:t>遊客」，登入後會變更顏色與名稱，由 </a:t>
            </a:r>
            <a:r>
              <a:rPr lang="en-US" altLang="zh-TW" sz="1800" dirty="0"/>
              <a:t>‘</a:t>
            </a:r>
            <a:r>
              <a:rPr lang="en-US" altLang="zh-TW" sz="1800" dirty="0" err="1"/>
              <a:t>userLabel</a:t>
            </a:r>
            <a:r>
              <a:rPr lang="en-US" altLang="zh-TW" sz="1800" dirty="0"/>
              <a:t>’ </a:t>
            </a:r>
            <a:r>
              <a:rPr lang="zh-TW" altLang="en-US" sz="1800" dirty="0"/>
              <a:t>控制。</a:t>
            </a:r>
            <a:endParaRPr lang="en-US" altLang="zh-TW" sz="1800" dirty="0"/>
          </a:p>
          <a:p>
            <a:pPr marL="216000" indent="0" algn="just">
              <a:buNone/>
            </a:pPr>
            <a:endParaRPr lang="en-US" altLang="zh-TW" sz="1800" dirty="0"/>
          </a:p>
          <a:p>
            <a:pPr marL="0" indent="0">
              <a:buNone/>
            </a:pPr>
            <a:r>
              <a:rPr lang="en-US" altLang="zh-TW" sz="2000" b="1" dirty="0"/>
              <a:t>2. </a:t>
            </a:r>
            <a:r>
              <a:rPr lang="zh-TW" altLang="en-US" sz="2000" b="1" dirty="0"/>
              <a:t>銀行餘額區 </a:t>
            </a:r>
            <a:r>
              <a:rPr lang="en-US" altLang="zh-TW" sz="2000" b="1" dirty="0"/>
              <a:t>: </a:t>
            </a:r>
          </a:p>
          <a:p>
            <a:pPr marL="216000" indent="0" algn="just">
              <a:buNone/>
            </a:pPr>
            <a:r>
              <a:rPr lang="zh-TW" altLang="en-US" sz="1800" dirty="0"/>
              <a:t>列出</a:t>
            </a:r>
            <a:r>
              <a:rPr lang="en-US" altLang="zh-TW" sz="1800" dirty="0"/>
              <a:t>A</a:t>
            </a:r>
            <a:r>
              <a:rPr lang="zh-TW" altLang="en-US" sz="1800" dirty="0"/>
              <a:t>、</a:t>
            </a:r>
            <a:r>
              <a:rPr lang="en-US" altLang="zh-TW" sz="1800" dirty="0"/>
              <a:t>B</a:t>
            </a:r>
            <a:r>
              <a:rPr lang="zh-TW" altLang="en-US" sz="1800" dirty="0"/>
              <a:t>、</a:t>
            </a:r>
            <a:r>
              <a:rPr lang="en-US" altLang="zh-TW" sz="1800" dirty="0"/>
              <a:t>C</a:t>
            </a:r>
            <a:r>
              <a:rPr lang="zh-TW" altLang="en-US" sz="1800" dirty="0"/>
              <a:t>銀行的開戶狀態與各自餘額，由 </a:t>
            </a:r>
            <a:r>
              <a:rPr lang="en-US" altLang="zh-TW" sz="1800" dirty="0"/>
              <a:t>‘</a:t>
            </a:r>
            <a:r>
              <a:rPr lang="en-US" altLang="zh-TW" sz="1800" dirty="0" err="1"/>
              <a:t>bankArea</a:t>
            </a:r>
            <a:r>
              <a:rPr lang="en-US" altLang="zh-TW" sz="1800" dirty="0"/>
              <a:t>’</a:t>
            </a:r>
            <a:r>
              <a:rPr lang="zh-TW" altLang="en-US" sz="1800" dirty="0"/>
              <a:t> 控制。</a:t>
            </a:r>
            <a:endParaRPr lang="en-US" altLang="zh-TW" sz="1800" dirty="0"/>
          </a:p>
          <a:p>
            <a:pPr marL="216000" indent="0" algn="just">
              <a:buNone/>
            </a:pPr>
            <a:endParaRPr lang="en-US" altLang="zh-TW" sz="1800" dirty="0"/>
          </a:p>
          <a:p>
            <a:pPr marL="0" indent="0" algn="just">
              <a:buNone/>
            </a:pPr>
            <a:r>
              <a:rPr lang="en-US" altLang="zh-TW" sz="2100" b="1" dirty="0"/>
              <a:t>3.</a:t>
            </a:r>
            <a:r>
              <a:rPr lang="zh-TW" altLang="en-US" sz="2100" b="1" dirty="0"/>
              <a:t> 功能操作區 </a:t>
            </a:r>
            <a:r>
              <a:rPr lang="en-US" altLang="zh-TW" sz="2100" b="1" dirty="0"/>
              <a:t>:</a:t>
            </a:r>
            <a:r>
              <a:rPr lang="zh-TW" altLang="en-US" sz="2100" b="1" dirty="0"/>
              <a:t> </a:t>
            </a:r>
            <a:endParaRPr lang="en-US" altLang="zh-TW" sz="2100" b="1" dirty="0"/>
          </a:p>
          <a:p>
            <a:pPr marL="216000" indent="0" algn="just">
              <a:buNone/>
            </a:pPr>
            <a:r>
              <a:rPr lang="zh-TW" altLang="en-US" sz="1800" dirty="0"/>
              <a:t>下方的按鈕面板，根據使用者或</a:t>
            </a:r>
            <a:r>
              <a:rPr lang="en-US" altLang="zh-TW" sz="1800" dirty="0"/>
              <a:t>root</a:t>
            </a:r>
            <a:r>
              <a:rPr lang="zh-TW" altLang="en-US" sz="1800" dirty="0"/>
              <a:t>模式動態顯示不同按鈕，由 </a:t>
            </a:r>
            <a:r>
              <a:rPr lang="en-US" altLang="zh-TW" sz="1800" dirty="0"/>
              <a:t>‘sidebar’</a:t>
            </a:r>
            <a:r>
              <a:rPr lang="zh-TW" altLang="en-US" sz="1800" dirty="0"/>
              <a:t> 控制。</a:t>
            </a:r>
          </a:p>
        </p:txBody>
      </p:sp>
      <p:pic>
        <p:nvPicPr>
          <p:cNvPr id="9" name="內容版面配置區 8" descr="一張含有 文字, 電子產品, 螢幕擷取畫面, 陳列 的圖片&#10;&#10;AI 產生的內容可能不正確。">
            <a:extLst>
              <a:ext uri="{FF2B5EF4-FFF2-40B4-BE49-F238E27FC236}">
                <a16:creationId xmlns:a16="http://schemas.microsoft.com/office/drawing/2014/main" id="{3B47BB34-1B71-19A7-FBE4-98F8F96319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22725" y="1939573"/>
            <a:ext cx="3719513" cy="4123441"/>
          </a:xfrm>
          <a:prstGeom prst="rect">
            <a:avLst/>
          </a:prstGeom>
        </p:spPr>
      </p:pic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3E62D3F5-3898-5BD0-28CD-514065FA73B2}"/>
              </a:ext>
            </a:extLst>
          </p:cNvPr>
          <p:cNvSpPr txBox="1">
            <a:spLocks/>
          </p:cNvSpPr>
          <p:nvPr/>
        </p:nvSpPr>
        <p:spPr>
          <a:xfrm>
            <a:off x="7985760" y="1825625"/>
            <a:ext cx="29413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sz="2000" b="1" dirty="0"/>
              <a:t>4. </a:t>
            </a:r>
            <a:r>
              <a:rPr lang="zh-TW" altLang="en-US" sz="2000" b="1" dirty="0"/>
              <a:t>系統設定選單 </a:t>
            </a:r>
            <a:r>
              <a:rPr lang="en-US" altLang="zh-TW" sz="2000" b="1" dirty="0"/>
              <a:t>: </a:t>
            </a:r>
          </a:p>
          <a:p>
            <a:pPr marL="216000" indent="0" algn="just">
              <a:buNone/>
            </a:pPr>
            <a:r>
              <a:rPr lang="zh-TW" altLang="en-US" sz="1800" dirty="0"/>
              <a:t>「設定」按鈕</a:t>
            </a:r>
            <a:r>
              <a:rPr lang="en-US" altLang="zh-TW" sz="1800" dirty="0"/>
              <a:t>,</a:t>
            </a:r>
            <a:r>
              <a:rPr lang="zh-TW" altLang="en-US" sz="1800" dirty="0"/>
              <a:t>提供切換帳號、進入</a:t>
            </a:r>
            <a:r>
              <a:rPr lang="en-US" altLang="zh-TW" sz="1800" dirty="0"/>
              <a:t>/</a:t>
            </a:r>
            <a:r>
              <a:rPr lang="zh-TW" altLang="en-US" sz="1800" dirty="0"/>
              <a:t>退出</a:t>
            </a:r>
            <a:r>
              <a:rPr lang="en-US" altLang="zh-TW" sz="1800" dirty="0"/>
              <a:t>root</a:t>
            </a:r>
            <a:r>
              <a:rPr lang="zh-TW" altLang="en-US" sz="1800" dirty="0"/>
              <a:t>模式等功能。</a:t>
            </a:r>
            <a:endParaRPr lang="en-US" altLang="zh-TW" sz="1800" dirty="0"/>
          </a:p>
          <a:p>
            <a:pPr marL="216000" indent="0" algn="just">
              <a:buNone/>
            </a:pPr>
            <a:endParaRPr lang="en-US" altLang="zh-TW" sz="1800" dirty="0"/>
          </a:p>
          <a:p>
            <a:pPr marL="0" indent="0">
              <a:buNone/>
            </a:pPr>
            <a:r>
              <a:rPr lang="en-US" altLang="zh-TW" sz="2000" b="1" dirty="0"/>
              <a:t>5.</a:t>
            </a:r>
            <a:r>
              <a:rPr lang="zh-TW" altLang="en-US" sz="2000" b="1" dirty="0"/>
              <a:t> 資產總覽區 </a:t>
            </a:r>
            <a:r>
              <a:rPr lang="en-US" altLang="zh-TW" sz="2000" b="1" dirty="0"/>
              <a:t>: </a:t>
            </a:r>
          </a:p>
          <a:p>
            <a:pPr marL="216000" indent="0" algn="just">
              <a:buNone/>
            </a:pPr>
            <a:r>
              <a:rPr lang="zh-TW" altLang="en-US" sz="1800" dirty="0"/>
              <a:t>顯示「總餘額」。由 </a:t>
            </a:r>
            <a:r>
              <a:rPr lang="en-US" altLang="zh-TW" sz="1800" dirty="0"/>
              <a:t>‘</a:t>
            </a:r>
            <a:r>
              <a:rPr lang="en-US" altLang="zh-TW" sz="1800" dirty="0" err="1"/>
              <a:t>moneyArea</a:t>
            </a:r>
            <a:r>
              <a:rPr lang="en-US" altLang="zh-TW" sz="1800" dirty="0"/>
              <a:t>’</a:t>
            </a:r>
            <a:r>
              <a:rPr lang="zh-TW" altLang="en-US" sz="1800" dirty="0"/>
              <a:t> 控制。</a:t>
            </a: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002584-457F-377F-46AC-C33A0FA8B021}"/>
              </a:ext>
            </a:extLst>
          </p:cNvPr>
          <p:cNvCxnSpPr/>
          <p:nvPr/>
        </p:nvCxnSpPr>
        <p:spPr>
          <a:xfrm>
            <a:off x="3779520" y="2407920"/>
            <a:ext cx="243205" cy="13208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A4476744-503C-1D6D-72E6-F96E5CF7337F}"/>
              </a:ext>
            </a:extLst>
          </p:cNvPr>
          <p:cNvSpPr/>
          <p:nvPr/>
        </p:nvSpPr>
        <p:spPr>
          <a:xfrm>
            <a:off x="4022724" y="2540000"/>
            <a:ext cx="1276985" cy="28702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06535846-B022-15E7-994D-23F574AD5A11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3688080" y="3307080"/>
            <a:ext cx="334644" cy="61722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E2AFA0C1-8964-B1DE-9E0C-DF726FFDE355}"/>
              </a:ext>
            </a:extLst>
          </p:cNvPr>
          <p:cNvSpPr/>
          <p:nvPr/>
        </p:nvSpPr>
        <p:spPr>
          <a:xfrm>
            <a:off x="4022724" y="2887980"/>
            <a:ext cx="1661796" cy="83820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4D86D93-BDE2-E356-B6D9-E6FC3AA016CC}"/>
              </a:ext>
            </a:extLst>
          </p:cNvPr>
          <p:cNvSpPr/>
          <p:nvPr/>
        </p:nvSpPr>
        <p:spPr>
          <a:xfrm>
            <a:off x="4229100" y="5417820"/>
            <a:ext cx="3238500" cy="48768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12142625-26ED-DD1A-3F1A-72E40B8A4FB8}"/>
              </a:ext>
            </a:extLst>
          </p:cNvPr>
          <p:cNvCxnSpPr>
            <a:endCxn id="20" idx="1"/>
          </p:cNvCxnSpPr>
          <p:nvPr/>
        </p:nvCxnSpPr>
        <p:spPr>
          <a:xfrm flipV="1">
            <a:off x="3733800" y="5661660"/>
            <a:ext cx="495300" cy="11430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AA91BE02-5ED2-8F02-3E7C-B439FB49DA85}"/>
              </a:ext>
            </a:extLst>
          </p:cNvPr>
          <p:cNvSpPr/>
          <p:nvPr/>
        </p:nvSpPr>
        <p:spPr>
          <a:xfrm>
            <a:off x="7117080" y="2225040"/>
            <a:ext cx="625158" cy="31496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A9DEEA87-39E5-6953-BC03-0C8ADD1504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7742238" y="2382520"/>
            <a:ext cx="312102" cy="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80E8C4AA-4788-7C8C-CEE6-EA18F5098DC1}"/>
              </a:ext>
            </a:extLst>
          </p:cNvPr>
          <p:cNvSpPr/>
          <p:nvPr/>
        </p:nvSpPr>
        <p:spPr>
          <a:xfrm>
            <a:off x="6530340" y="2540000"/>
            <a:ext cx="1211898" cy="347979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A22858B8-41A8-7B51-523D-9D4E3938516C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7742238" y="2713990"/>
            <a:ext cx="312102" cy="774416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85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E073BA-2BCD-DE3B-B6F3-E61EF7E5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89C13F-6E9C-7F7A-5F2D-4D12DD0C9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身份的起點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: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使用者註冊與登入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03437C-C73F-52F4-FB86-66A33A0DC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3934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0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流程說明</a:t>
            </a:r>
            <a:r>
              <a:rPr lang="en-US" altLang="zh-TW" sz="20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:</a:t>
            </a:r>
          </a:p>
          <a:p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使用者點擊「設定」選單中的「切換帳號」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會彈出一個包含「登入」和「註冊」標籤頁的</a:t>
            </a:r>
            <a:r>
              <a:rPr lang="en-US" altLang="zh-TW" sz="18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JDialog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對話框。</a:t>
            </a:r>
          </a:p>
          <a:p>
            <a:r>
              <a:rPr lang="zh-TW" altLang="en-US" sz="18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註冊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: 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輸入帳號密碼後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系統調用</a:t>
            </a:r>
            <a:r>
              <a:rPr lang="en-US" altLang="zh-TW" sz="18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Account.register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。成功後會自動跳轉至登入頁面。</a:t>
            </a:r>
          </a:p>
          <a:p>
            <a:r>
              <a:rPr lang="zh-TW" altLang="en-US" sz="18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登入 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: 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驗證成功後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系統會先調用</a:t>
            </a:r>
            <a:r>
              <a:rPr lang="en-US" altLang="zh-TW" sz="18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Account.saveUserData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保存上一位使用者的資料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然後調用 </a:t>
            </a:r>
            <a:r>
              <a:rPr lang="en-US" altLang="zh-TW" sz="18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Account.loadUserData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 ()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載入新登入者的銀行資料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並更新主介面。</a:t>
            </a:r>
          </a:p>
          <a:p>
            <a:r>
              <a:rPr lang="zh-TW" altLang="en-US" sz="18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登出</a:t>
            </a:r>
            <a:r>
              <a:rPr lang="en-US" altLang="zh-TW" sz="18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/</a:t>
            </a:r>
            <a:r>
              <a:rPr lang="zh-TW" altLang="en-US" sz="18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遊客模式 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: 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選擇登出時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系統會調用</a:t>
            </a:r>
            <a:r>
              <a:rPr lang="en-US" altLang="zh-TW" sz="1800" dirty="0" err="1">
                <a:latin typeface="Times New Roman" panose="02020603050405020304" pitchFamily="18" charset="0"/>
                <a:ea typeface="細明體" panose="02020509000000000000" pitchFamily="49" charset="-120"/>
              </a:rPr>
              <a:t>Account.logout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(),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它會先儲存當使用者資料</a:t>
            </a:r>
            <a:r>
              <a:rPr lang="en-US" altLang="zh-TW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,</a:t>
            </a:r>
            <a:r>
              <a:rPr lang="zh-TW" altLang="en-US" sz="1800" dirty="0">
                <a:latin typeface="Times New Roman" panose="02020603050405020304" pitchFamily="18" charset="0"/>
                <a:ea typeface="細明體" panose="02020509000000000000" pitchFamily="49" charset="-120"/>
              </a:rPr>
              <a:t>再切換至遊客身份並載入遊客資料。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46031EFA-F844-696A-7A7B-71F6FD0B8BB3}"/>
              </a:ext>
            </a:extLst>
          </p:cNvPr>
          <p:cNvSpPr txBox="1">
            <a:spLocks/>
          </p:cNvSpPr>
          <p:nvPr/>
        </p:nvSpPr>
        <p:spPr>
          <a:xfrm>
            <a:off x="6096000" y="1960562"/>
            <a:ext cx="5257800" cy="1985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7F50CA0-8061-8DED-7C37-76341F1F8F06}"/>
              </a:ext>
            </a:extLst>
          </p:cNvPr>
          <p:cNvSpPr txBox="1">
            <a:spLocks/>
          </p:cNvSpPr>
          <p:nvPr/>
        </p:nvSpPr>
        <p:spPr>
          <a:xfrm>
            <a:off x="6096000" y="4458328"/>
            <a:ext cx="5257800" cy="1985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7BAF248-A9A9-8161-4803-395F972E24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418" y="1402961"/>
            <a:ext cx="3465885" cy="263177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4769CF8-E859-E062-ED41-2351C100C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417" y="3698069"/>
            <a:ext cx="3465885" cy="260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335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AB9EAD-7FE9-0401-61D1-27138A1D0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2AA1D3-FD51-4CCC-302E-DCF80EAAC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日常操作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: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開戶、存提與轉帳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782E16D-C175-9132-F0AA-4E08F0B5E7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714135" cy="20405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1800" b="1" dirty="0"/>
              <a:t>互動方式</a:t>
            </a:r>
          </a:p>
          <a:p>
            <a:pPr marL="0" indent="0">
              <a:buNone/>
            </a:pPr>
            <a:r>
              <a:rPr lang="zh-TW" altLang="en-US" sz="1400" dirty="0"/>
              <a:t>所有核心銀行功能皆透過</a:t>
            </a:r>
            <a:r>
              <a:rPr lang="en-US" altLang="zh-TW" sz="1400" dirty="0" err="1"/>
              <a:t>JOption</a:t>
            </a:r>
            <a:r>
              <a:rPr lang="en-US" altLang="zh-TW" sz="1400" dirty="0"/>
              <a:t> Pane</a:t>
            </a:r>
            <a:r>
              <a:rPr lang="zh-TW" altLang="en-US" sz="1400" dirty="0"/>
              <a:t>彈出式對話框完成</a:t>
            </a:r>
            <a:r>
              <a:rPr lang="en-US" altLang="zh-TW" sz="1400" dirty="0"/>
              <a:t>,</a:t>
            </a:r>
            <a:r>
              <a:rPr lang="zh-TW" altLang="en-US" sz="1400" dirty="0"/>
              <a:t>引導使用者選擇銀行並輸入金額。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A763570-9B31-2ECB-1883-26A8C9C4D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66147"/>
            <a:ext cx="10515600" cy="23108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1800" b="1" dirty="0"/>
              <a:t>功能展示</a:t>
            </a:r>
            <a:endParaRPr lang="en-US" altLang="zh-TW" sz="1800" b="1" dirty="0"/>
          </a:p>
          <a:p>
            <a:r>
              <a:rPr lang="zh-TW" altLang="en-US" sz="1400" dirty="0"/>
              <a:t>開戶</a:t>
            </a:r>
            <a:r>
              <a:rPr lang="en-US" altLang="zh-TW" sz="1400" dirty="0"/>
              <a:t>:</a:t>
            </a:r>
            <a:r>
              <a:rPr lang="zh-TW" altLang="en-US" sz="1400" dirty="0"/>
              <a:t>使用者選擇銀行並輸入初始存款金額。</a:t>
            </a:r>
          </a:p>
          <a:p>
            <a:r>
              <a:rPr lang="zh-TW" altLang="en-US" sz="1400" dirty="0"/>
              <a:t>存款</a:t>
            </a:r>
            <a:r>
              <a:rPr lang="en-US" altLang="zh-TW" sz="1400" dirty="0"/>
              <a:t>/</a:t>
            </a:r>
            <a:r>
              <a:rPr lang="zh-TW" altLang="en-US" sz="1400" dirty="0"/>
              <a:t>提款</a:t>
            </a:r>
            <a:r>
              <a:rPr lang="en-US" altLang="zh-TW" sz="1400" dirty="0"/>
              <a:t>:</a:t>
            </a:r>
            <a:r>
              <a:rPr lang="zh-TW" altLang="en-US" sz="1400" dirty="0"/>
              <a:t>使用者選擇目標銀行並輸入金額。</a:t>
            </a:r>
          </a:p>
          <a:p>
            <a:r>
              <a:rPr lang="zh-TW" altLang="en-US" sz="1400" dirty="0"/>
              <a:t>轉帳</a:t>
            </a:r>
            <a:r>
              <a:rPr lang="en-US" altLang="zh-TW" sz="1400" dirty="0"/>
              <a:t>:</a:t>
            </a:r>
            <a:r>
              <a:rPr lang="zh-TW" altLang="en-US" sz="1400" dirty="0"/>
              <a:t>使用者需選擇轉出銀行和轉入銀行</a:t>
            </a:r>
            <a:r>
              <a:rPr lang="en-US" altLang="zh-TW" sz="1400" dirty="0"/>
              <a:t>,</a:t>
            </a:r>
            <a:r>
              <a:rPr lang="zh-TW" altLang="en-US" sz="1400" dirty="0"/>
              <a:t>並輸入金額。在確認前</a:t>
            </a:r>
            <a:r>
              <a:rPr lang="en-US" altLang="zh-TW" sz="1400" dirty="0"/>
              <a:t>,</a:t>
            </a:r>
            <a:r>
              <a:rPr lang="zh-TW" altLang="en-US" sz="1400" dirty="0"/>
              <a:t>對話框會提示本次交易所需的手續費</a:t>
            </a:r>
            <a:r>
              <a:rPr lang="en-US" altLang="zh-TW" sz="1400" dirty="0"/>
              <a:t>,</a:t>
            </a:r>
            <a:r>
              <a:rPr lang="zh-TW" altLang="en-US" sz="1400" dirty="0"/>
              <a:t>這是由 </a:t>
            </a:r>
            <a:r>
              <a:rPr lang="en-US" altLang="zh-TW" sz="1400" dirty="0" err="1"/>
              <a:t>bankManager.getHandling</a:t>
            </a:r>
            <a:r>
              <a:rPr lang="en-US" altLang="zh-TW" sz="1400" dirty="0"/>
              <a:t> Fee() </a:t>
            </a:r>
            <a:r>
              <a:rPr lang="zh-TW" altLang="en-US" sz="1400" dirty="0"/>
              <a:t>動態計算的。</a:t>
            </a:r>
          </a:p>
          <a:p>
            <a:r>
              <a:rPr lang="zh-TW" altLang="en-US" sz="1400" dirty="0"/>
              <a:t>每次成功操作後</a:t>
            </a:r>
            <a:r>
              <a:rPr lang="en-US" altLang="zh-TW" sz="1400" dirty="0"/>
              <a:t>,</a:t>
            </a:r>
            <a:r>
              <a:rPr lang="zh-TW" altLang="en-US" sz="1400" dirty="0"/>
              <a:t>系統都會調用 </a:t>
            </a:r>
            <a:r>
              <a:rPr lang="en-US" altLang="zh-TW" sz="1400" dirty="0" err="1"/>
              <a:t>userManager.saveUserData</a:t>
            </a:r>
            <a:r>
              <a:rPr lang="en-US" altLang="zh-TW" sz="1400" dirty="0"/>
              <a:t>()</a:t>
            </a:r>
            <a:r>
              <a:rPr lang="zh-TW" altLang="en-US" sz="1400" dirty="0"/>
              <a:t>來保存最新狀態</a:t>
            </a:r>
            <a:r>
              <a:rPr lang="en-US" altLang="zh-TW" sz="1400" dirty="0"/>
              <a:t>,</a:t>
            </a:r>
            <a:r>
              <a:rPr lang="zh-TW" altLang="en-US" sz="1400" dirty="0"/>
              <a:t>並刷新主介面。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2A63AA7-D727-8464-C723-380CCD766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18905" y="1690688"/>
            <a:ext cx="3134162" cy="147658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38C58AB8-1FEB-44EC-92E6-D3B62974F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50198" y="1698904"/>
            <a:ext cx="3934374" cy="141942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5441C96-F0C5-8767-956F-1AA3A04BA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18905" y="3233365"/>
            <a:ext cx="3105583" cy="146705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B3CFFE23-C025-66D7-DD44-339A9EAD38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4" b="994"/>
          <a:stretch/>
        </p:blipFill>
        <p:spPr>
          <a:xfrm>
            <a:off x="8474147" y="3223839"/>
            <a:ext cx="3105583" cy="144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53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EA4292-6568-0EE8-C23B-46F0791C8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CFA991-C730-7049-8162-FA5D682B8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上帝視角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:Root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管理模式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EB01CB-1FE6-BCFC-5960-4FB3B4276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544943"/>
            <a:ext cx="5257800" cy="4632019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TW" altLang="en-US" sz="14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進入方式 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: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 從「設定」選單選擇「進入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root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管理模式」。</a:t>
            </a:r>
            <a:endParaRPr lang="en-US" altLang="zh-TW" sz="14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zh-TW" altLang="en-US" sz="1400" dirty="0">
              <a:latin typeface="Times New Roman" panose="02020603050405020304" pitchFamily="18" charset="0"/>
              <a:ea typeface="細明體" panose="02020509000000000000" pitchFamily="49" charset="-120"/>
            </a:endParaRPr>
          </a:p>
          <a:p>
            <a:pPr algn="just">
              <a:lnSpc>
                <a:spcPct val="110000"/>
              </a:lnSpc>
            </a:pPr>
            <a:r>
              <a:rPr lang="zh-TW" altLang="en-US" sz="14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介面變化 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: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使用者狀態 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: user Label 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文字變為紅色的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"root"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資產顯示 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: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 總餘額與各銀行餘額均顯示為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"null",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保護隱私並表示當前非交易狀態。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功能按鈕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 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: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 下方的按鈕面板 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(sidebar) 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會被清空並替換為管理員專用按鈕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:</a:t>
            </a: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「設定手續費」和「查看手續費」。一般銀行業務按鈕被禁用。</a:t>
            </a:r>
          </a:p>
          <a:p>
            <a:pPr algn="just">
              <a:lnSpc>
                <a:spcPct val="110000"/>
              </a:lnSpc>
            </a:pPr>
            <a:r>
              <a:rPr lang="zh-TW" altLang="en-US" sz="1400" b="1" dirty="0">
                <a:latin typeface="Times New Roman" panose="02020603050405020304" pitchFamily="18" charset="0"/>
                <a:ea typeface="細明體" panose="02020509000000000000" pitchFamily="49" charset="-120"/>
              </a:rPr>
              <a:t>專屬功能 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: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管理者可以設定任意兩家不同銀行間的轉帳手續費。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可以查看當前所有手續費的設定。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17D7C02-F601-DC81-B2FD-8C20FF7E1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94617" y="1438050"/>
            <a:ext cx="4959183" cy="331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18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CA98C8-A486-1A75-2930-6C20932CE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18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C8103-BE6E-2A86-FF9E-4CD404BC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900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255F01-6125-DD7E-55DE-07E8F1CB5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8157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8AAC0-DA14-EEB9-6025-912C4DC07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0613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1605</Words>
  <Application>Microsoft Office PowerPoint</Application>
  <PresentationFormat>寬螢幕</PresentationFormat>
  <Paragraphs>138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Office 佈景主題</vt:lpstr>
      <vt:lpstr>銀行模擬系統</vt:lpstr>
      <vt:lpstr>系統願景 : 打造一個多功能的銀行模擬平台</vt:lpstr>
      <vt:lpstr>系統架構設計 : 四大核心支柱</vt:lpstr>
      <vt:lpstr>核心支柱 I : ‘Account’ - 使用者管理的基石</vt:lpstr>
      <vt:lpstr>核心支柱 II : ‘Bank’ - 交易執行的單元</vt:lpstr>
      <vt:lpstr>核心支柱 III : ‘BankManager’ - 規則的制定者</vt:lpstr>
      <vt:lpstr>指揮中心 ‘Main’ : 串連邏輯與介面的橋樑</vt:lpstr>
      <vt:lpstr>使用者介面:一個直觀互動的門戶</vt:lpstr>
      <vt:lpstr>身份的起點:使用者註冊與登入</vt:lpstr>
      <vt:lpstr>日常操作:開戶、存提與轉帳</vt:lpstr>
      <vt:lpstr>上帝視角:Root 管理模式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育維 劉</dc:creator>
  <cp:lastModifiedBy>育維 劉</cp:lastModifiedBy>
  <cp:revision>25</cp:revision>
  <dcterms:created xsi:type="dcterms:W3CDTF">2025-12-21T10:17:18Z</dcterms:created>
  <dcterms:modified xsi:type="dcterms:W3CDTF">2025-12-21T14:18:19Z</dcterms:modified>
</cp:coreProperties>
</file>