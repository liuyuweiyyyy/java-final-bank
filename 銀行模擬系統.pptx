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71" r:id="rId7"/>
    <p:sldId id="27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A7E85"/>
    <a:srgbClr val="53ACDE"/>
    <a:srgbClr val="D1845C"/>
    <a:srgbClr val="F1F5F8"/>
    <a:srgbClr val="E3E7EA"/>
    <a:srgbClr val="194465"/>
    <a:srgbClr val="B64A9C"/>
    <a:srgbClr val="C167AC"/>
    <a:srgbClr val="CC81BB"/>
    <a:srgbClr val="BB70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0C48E79-4D6D-3227-BC90-ED53100AC8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69CE85F4-D574-FD44-2B5F-6D5460F08D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E3D73D0-DBEB-2CCB-C952-FF81B6CC2A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9788-3567-414E-96B1-B198D10DED12}" type="datetimeFigureOut">
              <a:rPr lang="zh-TW" altLang="en-US" smtClean="0"/>
              <a:t>2025/12/23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39BC6EF-EDDE-FBE8-CE38-933931F54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2116B34-7526-6716-64C8-833F6B0515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D456B-40F8-4696-9B73-D13FC3CD883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12372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3C966D0-1E51-8ABD-BC9A-E4536FBF4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3D7C954-76EF-4893-7909-0208CF8882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D78D6AF-CF42-2B24-35C2-E3FAB873B0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9788-3567-414E-96B1-B198D10DED12}" type="datetimeFigureOut">
              <a:rPr lang="zh-TW" altLang="en-US" smtClean="0"/>
              <a:t>2025/12/23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13B426C-D6A0-31F0-B071-FC44C498E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54F940E-D29F-A4ED-6E89-2FA13CBE3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D456B-40F8-4696-9B73-D13FC3CD883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331681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3C6CF9-E956-991D-3556-87BDCAE6AD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92FD2F1-D5AB-2DFB-CE63-CC21FDD7FD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144583B-E81F-FC57-FF07-184D460DF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9788-3567-414E-96B1-B198D10DED12}" type="datetimeFigureOut">
              <a:rPr lang="zh-TW" altLang="en-US" smtClean="0"/>
              <a:t>2025/12/23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49C6364-3145-E3FF-86BA-50F0C2F29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1A24C79-30B6-F340-1388-2FB5EC134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D456B-40F8-4696-9B73-D13FC3CD883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29028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FD8D2EC-6F65-B1D4-516A-24E1C11E3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72A58F2-108C-48AF-124D-ADC94199E0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C256B39-713D-A93A-800E-D9351C550D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09793842-AF88-7A5C-63DA-3A636F7AE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9788-3567-414E-96B1-B198D10DED12}" type="datetimeFigureOut">
              <a:rPr lang="zh-TW" altLang="en-US" smtClean="0"/>
              <a:t>2025/12/23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B446B17-1D4E-FE93-E1FA-5D8E51AF6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8F9DD00A-7E91-6FB1-8A80-67B36853B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D456B-40F8-4696-9B73-D13FC3CD883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547129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125B7BA-3B50-217A-8C9F-F818C7260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5D14297-B347-663F-B676-F93E6A67B1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60C5267-F57D-5CC6-AF60-D50921B4C0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B7145002-66F4-FA2E-FA91-D13BECFB8E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8A4B9F5C-5B54-C4FA-74D1-6590EE0C46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9C63ACBF-BA29-271B-5277-5243007914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9788-3567-414E-96B1-B198D10DED12}" type="datetimeFigureOut">
              <a:rPr lang="zh-TW" altLang="en-US" smtClean="0"/>
              <a:t>2025/12/23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19D335E2-3EEF-99B6-44E3-8D012BE45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E4B82275-BA06-6E95-B380-70F0A7AEF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D456B-40F8-4696-9B73-D13FC3CD883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18111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69ED383-19BB-FB99-1CC8-C2C6BA704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C764F30F-4D0B-1772-4B6E-786F7D0E9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9788-3567-414E-96B1-B198D10DED12}" type="datetimeFigureOut">
              <a:rPr lang="zh-TW" altLang="en-US" smtClean="0"/>
              <a:t>2025/12/23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EBBD2B1A-CF90-BE43-B015-406B2FA66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F2BEE73-9020-69E2-E194-5D1D7FDE91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D456B-40F8-4696-9B73-D13FC3CD883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39227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E61B2600-840C-3D4D-E5B8-8307D0A6B2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9788-3567-414E-96B1-B198D10DED12}" type="datetimeFigureOut">
              <a:rPr lang="zh-TW" altLang="en-US" smtClean="0"/>
              <a:t>2025/12/23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0BA0F1C2-BB43-BE5E-8093-F63DB59F42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4490D60-BEA1-D573-DDD2-B9C8D5FFB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D456B-40F8-4696-9B73-D13FC3CD883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28711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2627CC-561B-866A-5940-41D4C54E63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CB68172-F86C-ED16-3103-91AD9605F2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3651C83-9A03-CE83-7F6C-53787D7A63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F282892F-CBE5-59B7-88B2-6A064CF345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9788-3567-414E-96B1-B198D10DED12}" type="datetimeFigureOut">
              <a:rPr lang="zh-TW" altLang="en-US" smtClean="0"/>
              <a:t>2025/12/23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879568AF-5260-0E70-2E7C-92C1942ECF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DE91941D-D33B-87D6-019A-39515DB25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D456B-40F8-4696-9B73-D13FC3CD883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577125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7CA6787-5430-EBFD-9829-6BA8C779AD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1D8F4B40-899C-463F-D6AC-2DB0243C945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17AAC91A-E7CF-9A93-E09E-E6EA0A2937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012F098-3ABE-F608-AC53-788E3EB12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9788-3567-414E-96B1-B198D10DED12}" type="datetimeFigureOut">
              <a:rPr lang="zh-TW" altLang="en-US" smtClean="0"/>
              <a:t>2025/12/23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EB4DFFB1-427F-FDE2-FEE0-8D740E016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7FCD09F-BF31-499D-2BC6-93B926117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D456B-40F8-4696-9B73-D13FC3CD883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396500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DA29029-D9BF-3F1A-11CD-1102C3A71F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0F9A3ABF-19FB-5503-6585-2CB1D0DD4B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12CA825-AD51-195A-CBD7-151B9CCEF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9788-3567-414E-96B1-B198D10DED12}" type="datetimeFigureOut">
              <a:rPr lang="zh-TW" altLang="en-US" smtClean="0"/>
              <a:t>2025/12/23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C9B8235-3CEB-08F2-7925-FBC5E4B9DF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D3FB9B6-89CB-ACAD-7280-C6644DD25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D456B-40F8-4696-9B73-D13FC3CD883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834283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2060ADA3-15F1-FB10-E687-790D4D9D78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E62602DD-8B40-B7FE-5A21-64E05A293B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0CFD7D6-9717-C620-4FE7-FFCCBD4F2A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9788-3567-414E-96B1-B198D10DED12}" type="datetimeFigureOut">
              <a:rPr lang="zh-TW" altLang="en-US" smtClean="0"/>
              <a:t>2025/12/23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4526A02-5CF4-C97A-AAA0-DD203CF88D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7D33B43-576B-1B85-C965-C6238D36B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D456B-40F8-4696-9B73-D13FC3CD883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787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7FABC6BB-634E-0B02-ABAA-91AB40CD2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4503F43-8334-520A-1FF9-363756DBB9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50F1B8F-814D-BA9E-12A8-E32DCA6A74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869788-3567-414E-96B1-B198D10DED12}" type="datetimeFigureOut">
              <a:rPr lang="zh-TW" altLang="en-US" smtClean="0"/>
              <a:t>2025/12/23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FCE43A9-73AE-C5AE-DE95-3597FF1106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EF88D62-0CDF-3189-540D-8FB2AC5288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1D456B-40F8-4696-9B73-D13FC3CD883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452153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0AB29E37-1872-B53C-DD40-AAFFD26867C0}"/>
              </a:ext>
            </a:extLst>
          </p:cNvPr>
          <p:cNvSpPr/>
          <p:nvPr/>
        </p:nvSpPr>
        <p:spPr>
          <a:xfrm>
            <a:off x="10780295" y="6192253"/>
            <a:ext cx="1411704" cy="818147"/>
          </a:xfrm>
          <a:prstGeom prst="rect">
            <a:avLst/>
          </a:prstGeom>
          <a:solidFill>
            <a:srgbClr val="F1F5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Times New Roman" panose="02020603050405020304" pitchFamily="18" charset="0"/>
              <a:ea typeface="新細明體" panose="02020500000000000000" pitchFamily="18" charset="-120"/>
            </a:endParaRPr>
          </a:p>
        </p:txBody>
      </p:sp>
      <p:pic>
        <p:nvPicPr>
          <p:cNvPr id="6" name="圖片 5" descr="一張含有 寫生, 設計, 藝術 的圖片&#10;&#10;AI 產生的內容可能不正確。">
            <a:extLst>
              <a:ext uri="{FF2B5EF4-FFF2-40B4-BE49-F238E27FC236}">
                <a16:creationId xmlns:a16="http://schemas.microsoft.com/office/drawing/2014/main" id="{30CF3E99-F6DF-6A81-F0BE-AB2F10B9E2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0431" y="181069"/>
            <a:ext cx="7971135" cy="4748396"/>
          </a:xfrm>
          <a:prstGeom prst="rect">
            <a:avLst/>
          </a:prstGeom>
        </p:spPr>
      </p:pic>
      <p:sp>
        <p:nvSpPr>
          <p:cNvPr id="7" name="標題 6">
            <a:extLst>
              <a:ext uri="{FF2B5EF4-FFF2-40B4-BE49-F238E27FC236}">
                <a16:creationId xmlns:a16="http://schemas.microsoft.com/office/drawing/2014/main" id="{19508412-F313-A0D1-18A8-0BCF36064E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4825496"/>
            <a:ext cx="9144000" cy="991103"/>
          </a:xfrm>
        </p:spPr>
        <p:txBody>
          <a:bodyPr/>
          <a:lstStyle/>
          <a:p>
            <a:r>
              <a:rPr lang="zh-TW" altLang="en-US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銀行模擬系統</a:t>
            </a:r>
          </a:p>
        </p:txBody>
      </p:sp>
      <p:sp>
        <p:nvSpPr>
          <p:cNvPr id="8" name="副標題 7">
            <a:extLst>
              <a:ext uri="{FF2B5EF4-FFF2-40B4-BE49-F238E27FC236}">
                <a16:creationId xmlns:a16="http://schemas.microsoft.com/office/drawing/2014/main" id="{B0B53EA9-FCF8-C7B1-A7CF-0935B10D40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6030119"/>
            <a:ext cx="9144000" cy="646812"/>
          </a:xfrm>
        </p:spPr>
        <p:txBody>
          <a:bodyPr>
            <a:normAutofit/>
          </a:bodyPr>
          <a:lstStyle/>
          <a:p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一個物件導向設計與實現的探索</a:t>
            </a:r>
          </a:p>
        </p:txBody>
      </p:sp>
    </p:spTree>
    <p:extLst>
      <p:ext uri="{BB962C8B-B14F-4D97-AF65-F5344CB8AC3E}">
        <p14:creationId xmlns:p14="http://schemas.microsoft.com/office/powerpoint/2010/main" val="18787482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741676-9869-EDC9-A070-DB388B35A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C0C67B5D-53C8-082A-CAA3-F251467EE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系統願景：打造一個多功能的銀行模擬平台</a:t>
            </a:r>
          </a:p>
        </p:txBody>
      </p:sp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1C81133C-5FDC-0D44-47C0-2FA4A31653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38965" y="1781686"/>
            <a:ext cx="3822746" cy="4508500"/>
          </a:xfrm>
        </p:spPr>
        <p:txBody>
          <a:bodyPr anchor="t">
            <a:normAutofit/>
          </a:bodyPr>
          <a:lstStyle/>
          <a:p>
            <a:pPr algn="just"/>
            <a:r>
              <a:rPr lang="zh-TW" altLang="en-US" sz="2600" dirty="0">
                <a:solidFill>
                  <a:srgbClr val="194465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專案目標</a:t>
            </a:r>
            <a:r>
              <a:rPr lang="zh-TW" altLang="en-US" b="0" dirty="0">
                <a:latin typeface="標楷體" panose="03000509000000000000" pitchFamily="65" charset="-120"/>
                <a:ea typeface="標楷體" panose="03000509000000000000" pitchFamily="65" charset="-120"/>
              </a:rPr>
              <a:t>：</a:t>
            </a:r>
            <a:endParaRPr lang="en-US" altLang="zh-TW" b="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just"/>
            <a:r>
              <a:rPr lang="zh-TW" altLang="en-US" b="0" dirty="0">
                <a:latin typeface="標楷體" panose="03000509000000000000" pitchFamily="65" charset="-120"/>
                <a:ea typeface="標楷體" panose="03000509000000000000" pitchFamily="65" charset="-120"/>
              </a:rPr>
              <a:t>設計一個基於</a:t>
            </a:r>
            <a:r>
              <a:rPr lang="en-US" altLang="zh-TW" b="0" dirty="0">
                <a:latin typeface="標楷體" panose="03000509000000000000" pitchFamily="65" charset="-120"/>
                <a:ea typeface="標楷體" panose="03000509000000000000" pitchFamily="65" charset="-120"/>
              </a:rPr>
              <a:t>Java Swing</a:t>
            </a:r>
            <a:r>
              <a:rPr lang="zh-TW" altLang="en-US" b="0" dirty="0">
                <a:latin typeface="標楷體" panose="03000509000000000000" pitchFamily="65" charset="-120"/>
                <a:ea typeface="標楷體" panose="03000509000000000000" pitchFamily="65" charset="-120"/>
              </a:rPr>
              <a:t>的銀行模擬系統，該系統應具備使用者管理、多銀行帳戶操作及後台管理管理等核心功能，並以物件導向原則進行架構。</a:t>
            </a:r>
          </a:p>
        </p:txBody>
      </p:sp>
      <p:sp>
        <p:nvSpPr>
          <p:cNvPr id="9" name="文字版面配置區 8">
            <a:extLst>
              <a:ext uri="{FF2B5EF4-FFF2-40B4-BE49-F238E27FC236}">
                <a16:creationId xmlns:a16="http://schemas.microsoft.com/office/drawing/2014/main" id="{DE8F03CE-8723-6859-60DE-C6F12C4111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55130" y="1734109"/>
            <a:ext cx="5009982" cy="957140"/>
          </a:xfrm>
        </p:spPr>
        <p:txBody>
          <a:bodyPr anchor="t">
            <a:normAutofit/>
          </a:bodyPr>
          <a:lstStyle/>
          <a:p>
            <a:pPr algn="just"/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使用者系統 </a:t>
            </a:r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: </a:t>
            </a:r>
            <a:r>
              <a:rPr lang="zh-TW" altLang="en-US" sz="2000" b="0" dirty="0">
                <a:latin typeface="標楷體" panose="03000509000000000000" pitchFamily="65" charset="-120"/>
                <a:ea typeface="標楷體" panose="03000509000000000000" pitchFamily="65" charset="-120"/>
              </a:rPr>
              <a:t>支持多使用者註冊、登入與登出。提供一個獨立的「遊客」模式，所有使用者資料在切換帳號或登出時會自動保存。</a:t>
            </a:r>
          </a:p>
        </p:txBody>
      </p:sp>
      <p:pic>
        <p:nvPicPr>
          <p:cNvPr id="12" name="內容版面配置區 11" descr="一張含有 寫生, 圖畫, 設計, 印刷術 的圖片&#10;&#10;AI 產生的內容可能不正確。">
            <a:extLst>
              <a:ext uri="{FF2B5EF4-FFF2-40B4-BE49-F238E27FC236}">
                <a16:creationId xmlns:a16="http://schemas.microsoft.com/office/drawing/2014/main" id="{A3DFC147-9ACA-2412-6FAC-F31B1D830883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/>
          <a:stretch>
            <a:fillRect/>
          </a:stretch>
        </p:blipFill>
        <p:spPr>
          <a:xfrm>
            <a:off x="5425507" y="1690688"/>
            <a:ext cx="946484" cy="4392926"/>
          </a:xfrm>
          <a:prstGeom prst="rect">
            <a:avLst/>
          </a:prstGeom>
        </p:spPr>
      </p:pic>
      <p:sp>
        <p:nvSpPr>
          <p:cNvPr id="13" name="文字版面配置區 8">
            <a:extLst>
              <a:ext uri="{FF2B5EF4-FFF2-40B4-BE49-F238E27FC236}">
                <a16:creationId xmlns:a16="http://schemas.microsoft.com/office/drawing/2014/main" id="{BA583764-E9BB-AF71-0B3A-B3200E735DC9}"/>
              </a:ext>
            </a:extLst>
          </p:cNvPr>
          <p:cNvSpPr txBox="1">
            <a:spLocks/>
          </p:cNvSpPr>
          <p:nvPr/>
        </p:nvSpPr>
        <p:spPr>
          <a:xfrm>
            <a:off x="6655130" y="2822064"/>
            <a:ext cx="5009982" cy="119037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銀行業務 </a:t>
            </a:r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: </a:t>
            </a:r>
            <a:r>
              <a:rPr lang="zh-TW" altLang="en-US" sz="2000" b="0" dirty="0">
                <a:latin typeface="標楷體" panose="03000509000000000000" pitchFamily="65" charset="-120"/>
                <a:ea typeface="標楷體" panose="03000509000000000000" pitchFamily="65" charset="-120"/>
              </a:rPr>
              <a:t>使用者可以對系統內的多家銀行</a:t>
            </a:r>
            <a:r>
              <a:rPr lang="en-US" altLang="zh-TW" sz="2000" b="0" dirty="0">
                <a:latin typeface="標楷體" panose="03000509000000000000" pitchFamily="65" charset="-120"/>
                <a:ea typeface="標楷體" panose="03000509000000000000" pitchFamily="65" charset="-120"/>
              </a:rPr>
              <a:t>(A</a:t>
            </a:r>
            <a:r>
              <a:rPr lang="zh-TW" altLang="en-US" sz="2000" b="0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en-US" altLang="zh-TW" sz="2000" b="0" dirty="0">
                <a:latin typeface="標楷體" panose="03000509000000000000" pitchFamily="65" charset="-120"/>
                <a:ea typeface="標楷體" panose="03000509000000000000" pitchFamily="65" charset="-120"/>
              </a:rPr>
              <a:t>B</a:t>
            </a:r>
            <a:r>
              <a:rPr lang="zh-TW" altLang="en-US" sz="2000" b="0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en-US" altLang="zh-TW" sz="2000" b="0" dirty="0">
                <a:latin typeface="標楷體" panose="03000509000000000000" pitchFamily="65" charset="-120"/>
                <a:ea typeface="標楷體" panose="03000509000000000000" pitchFamily="65" charset="-120"/>
              </a:rPr>
              <a:t>C</a:t>
            </a:r>
            <a:r>
              <a:rPr lang="zh-TW" altLang="en-US" sz="2000" b="0" dirty="0">
                <a:latin typeface="標楷體" panose="03000509000000000000" pitchFamily="65" charset="-120"/>
                <a:ea typeface="標楷體" panose="03000509000000000000" pitchFamily="65" charset="-120"/>
              </a:rPr>
              <a:t>銀行</a:t>
            </a:r>
            <a:r>
              <a:rPr lang="en-US" altLang="zh-TW" sz="2000" b="0" dirty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r>
              <a:rPr lang="zh-TW" altLang="en-US" sz="2000" b="0" dirty="0">
                <a:latin typeface="標楷體" panose="03000509000000000000" pitchFamily="65" charset="-120"/>
                <a:ea typeface="標楷體" panose="03000509000000000000" pitchFamily="65" charset="-120"/>
              </a:rPr>
              <a:t> 進行開戶、存款、提款及跨行轉帳。</a:t>
            </a:r>
          </a:p>
        </p:txBody>
      </p:sp>
      <p:sp>
        <p:nvSpPr>
          <p:cNvPr id="14" name="文字版面配置區 8">
            <a:extLst>
              <a:ext uri="{FF2B5EF4-FFF2-40B4-BE49-F238E27FC236}">
                <a16:creationId xmlns:a16="http://schemas.microsoft.com/office/drawing/2014/main" id="{34A8E66E-E534-2E5B-4265-F8B2CF5B4466}"/>
              </a:ext>
            </a:extLst>
          </p:cNvPr>
          <p:cNvSpPr txBox="1">
            <a:spLocks/>
          </p:cNvSpPr>
          <p:nvPr/>
        </p:nvSpPr>
        <p:spPr>
          <a:xfrm>
            <a:off x="6655130" y="4018777"/>
            <a:ext cx="5009982" cy="109468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管理員模式 </a:t>
            </a:r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: </a:t>
            </a:r>
            <a:r>
              <a:rPr lang="zh-TW" altLang="en-US" sz="2000" b="0" dirty="0">
                <a:latin typeface="標楷體" panose="03000509000000000000" pitchFamily="65" charset="-120"/>
                <a:ea typeface="標楷體" panose="03000509000000000000" pitchFamily="65" charset="-120"/>
              </a:rPr>
              <a:t>提供特殊的 </a:t>
            </a:r>
            <a:r>
              <a:rPr lang="en-US" altLang="zh-TW" sz="2000" b="0" dirty="0">
                <a:latin typeface="標楷體" panose="03000509000000000000" pitchFamily="65" charset="-120"/>
                <a:ea typeface="標楷體" panose="03000509000000000000" pitchFamily="65" charset="-120"/>
              </a:rPr>
              <a:t>“root” </a:t>
            </a:r>
            <a:r>
              <a:rPr lang="zh-TW" altLang="en-US" sz="2000" b="0" dirty="0">
                <a:latin typeface="標楷體" panose="03000509000000000000" pitchFamily="65" charset="-120"/>
                <a:ea typeface="標楷體" panose="03000509000000000000" pitchFamily="65" charset="-120"/>
              </a:rPr>
              <a:t>模式，允許管理者動態設定不同銀行間的跨行轉帳手續費。</a:t>
            </a:r>
          </a:p>
        </p:txBody>
      </p:sp>
      <p:sp>
        <p:nvSpPr>
          <p:cNvPr id="15" name="文字版面配置區 8">
            <a:extLst>
              <a:ext uri="{FF2B5EF4-FFF2-40B4-BE49-F238E27FC236}">
                <a16:creationId xmlns:a16="http://schemas.microsoft.com/office/drawing/2014/main" id="{67348A08-B15F-FFCA-16C5-038B9F05029E}"/>
              </a:ext>
            </a:extLst>
          </p:cNvPr>
          <p:cNvSpPr txBox="1">
            <a:spLocks/>
          </p:cNvSpPr>
          <p:nvPr/>
        </p:nvSpPr>
        <p:spPr>
          <a:xfrm>
            <a:off x="6655130" y="5111718"/>
            <a:ext cx="5009982" cy="109468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圖形化介面</a:t>
            </a:r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(GUI) : </a:t>
            </a:r>
            <a:r>
              <a:rPr lang="zh-TW" altLang="en-US" sz="2000" b="0" dirty="0">
                <a:latin typeface="標楷體" panose="03000509000000000000" pitchFamily="65" charset="-120"/>
                <a:ea typeface="標楷體" panose="03000509000000000000" pitchFamily="65" charset="-120"/>
              </a:rPr>
              <a:t>提供一個直觀且反應迅速的圖形介面，讓所有操作都能透過對話框和按鈕完成。</a:t>
            </a:r>
          </a:p>
        </p:txBody>
      </p:sp>
    </p:spTree>
    <p:extLst>
      <p:ext uri="{BB962C8B-B14F-4D97-AF65-F5344CB8AC3E}">
        <p14:creationId xmlns:p14="http://schemas.microsoft.com/office/powerpoint/2010/main" val="2345711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145727-3904-E697-016F-8240E2663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056A47C-E906-3C48-7D2E-FA42DC605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系統架構設計：四大核心支柱</a:t>
            </a:r>
          </a:p>
        </p:txBody>
      </p:sp>
      <p:pic>
        <p:nvPicPr>
          <p:cNvPr id="6" name="內容版面配置區 5" descr="一張含有 文字, 字型, 螢幕擷取畫面, 行 的圖片&#10;&#10;AI 產生的內容可能不正確。">
            <a:extLst>
              <a:ext uri="{FF2B5EF4-FFF2-40B4-BE49-F238E27FC236}">
                <a16:creationId xmlns:a16="http://schemas.microsoft.com/office/drawing/2014/main" id="{7D0551C3-7AAA-73E7-90BC-046E5D4A6CD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764920" y="1902615"/>
            <a:ext cx="10814560" cy="4590260"/>
          </a:xfrm>
          <a:prstGeom prst="rect">
            <a:avLst/>
          </a:prstGeom>
        </p:spPr>
      </p:pic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6ABDF681-BF40-22DB-A35E-62CFDDDE88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1443790"/>
            <a:ext cx="10515600" cy="458826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zh-TW" altLang="en-US" sz="1900" dirty="0">
                <a:latin typeface="標楷體" panose="03000509000000000000" pitchFamily="65" charset="-120"/>
                <a:ea typeface="標楷體" panose="03000509000000000000" pitchFamily="65" charset="-120"/>
              </a:rPr>
              <a:t>系統圍繞四個核心</a:t>
            </a:r>
            <a:r>
              <a:rPr lang="en-US" altLang="zh-TW" sz="1900" dirty="0">
                <a:latin typeface="標楷體" panose="03000509000000000000" pitchFamily="65" charset="-120"/>
                <a:ea typeface="標楷體" panose="03000509000000000000" pitchFamily="65" charset="-120"/>
              </a:rPr>
              <a:t>Java</a:t>
            </a:r>
            <a:r>
              <a:rPr lang="zh-TW" altLang="en-US" sz="1900" dirty="0">
                <a:latin typeface="標楷體" panose="03000509000000000000" pitchFamily="65" charset="-120"/>
                <a:ea typeface="標楷體" panose="03000509000000000000" pitchFamily="65" charset="-120"/>
              </a:rPr>
              <a:t>類別建構，每個類別都有明確的職責，實現了高度模組化和低耦合的設計。</a:t>
            </a:r>
          </a:p>
        </p:txBody>
      </p:sp>
    </p:spTree>
    <p:extLst>
      <p:ext uri="{BB962C8B-B14F-4D97-AF65-F5344CB8AC3E}">
        <p14:creationId xmlns:p14="http://schemas.microsoft.com/office/powerpoint/2010/main" val="32797015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5835FF-0F23-352F-7E4C-40997B1E2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6A3356-0DD5-821E-41A8-DDF2756B9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核心支柱 </a:t>
            </a:r>
            <a:r>
              <a:rPr lang="en-US" altLang="zh-TW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I</a:t>
            </a:r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：</a:t>
            </a:r>
            <a:r>
              <a:rPr lang="en-US" altLang="zh-TW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‘Account’ - </a:t>
            </a:r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使用者管理的基石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6DEA89E-924F-DEDB-ED48-9BF265ABB6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4747896"/>
          </a:xfrm>
          <a:solidFill>
            <a:srgbClr val="E3E7EA"/>
          </a:solidFill>
        </p:spPr>
        <p:txBody>
          <a:bodyPr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altLang="zh-TW" sz="1400" dirty="0">
                <a:solidFill>
                  <a:srgbClr val="D1845C"/>
                </a:solidFill>
                <a:latin typeface="Times New Roman" panose="02020603050405020304" pitchFamily="18" charset="0"/>
              </a:rPr>
              <a:t>public class </a:t>
            </a:r>
            <a:r>
              <a:rPr lang="en-US" altLang="zh-TW" sz="1400" dirty="0">
                <a:latin typeface="Times New Roman" panose="02020603050405020304" pitchFamily="18" charset="0"/>
              </a:rPr>
              <a:t>Account{</a:t>
            </a:r>
          </a:p>
          <a:p>
            <a:pPr marL="0" indent="0">
              <a:buNone/>
            </a:pPr>
            <a:r>
              <a:rPr lang="en-US" altLang="zh-TW" sz="1400" dirty="0">
                <a:latin typeface="Times New Roman" panose="02020603050405020304" pitchFamily="18" charset="0"/>
              </a:rPr>
              <a:t>    </a:t>
            </a:r>
            <a:r>
              <a:rPr lang="en-US" altLang="zh-TW" sz="1400" dirty="0">
                <a:solidFill>
                  <a:srgbClr val="D1845C"/>
                </a:solidFill>
                <a:latin typeface="Times New Roman" panose="02020603050405020304" pitchFamily="18" charset="0"/>
              </a:rPr>
              <a:t>private static </a:t>
            </a:r>
            <a:r>
              <a:rPr lang="en-US" altLang="zh-TW" sz="1400" dirty="0">
                <a:latin typeface="Times New Roman" panose="02020603050405020304" pitchFamily="18" charset="0"/>
              </a:rPr>
              <a:t>Account </a:t>
            </a:r>
            <a:r>
              <a:rPr lang="en-US" altLang="zh-TW" sz="1400" dirty="0">
                <a:solidFill>
                  <a:srgbClr val="B64A9C"/>
                </a:solidFill>
                <a:latin typeface="Times New Roman" panose="02020603050405020304" pitchFamily="18" charset="0"/>
              </a:rPr>
              <a:t>instance</a:t>
            </a:r>
            <a:r>
              <a:rPr lang="en-US" altLang="zh-TW" sz="1400" dirty="0">
                <a:latin typeface="Times New Roman" panose="02020603050405020304" pitchFamily="18" charset="0"/>
              </a:rPr>
              <a:t>;</a:t>
            </a:r>
          </a:p>
          <a:p>
            <a:pPr marL="0" indent="0">
              <a:buNone/>
            </a:pPr>
            <a:r>
              <a:rPr lang="en-US" altLang="zh-TW" sz="1400" dirty="0">
                <a:latin typeface="Times New Roman" panose="02020603050405020304" pitchFamily="18" charset="0"/>
              </a:rPr>
              <a:t>    </a:t>
            </a:r>
            <a:r>
              <a:rPr lang="en-US" altLang="zh-TW" sz="1400" dirty="0">
                <a:solidFill>
                  <a:srgbClr val="D1845C"/>
                </a:solidFill>
                <a:latin typeface="Times New Roman" panose="02020603050405020304" pitchFamily="18" charset="0"/>
              </a:rPr>
              <a:t>private</a:t>
            </a:r>
            <a:r>
              <a:rPr lang="en-US" altLang="zh-TW" sz="1400" dirty="0">
                <a:latin typeface="Times New Roman" panose="02020603050405020304" pitchFamily="18" charset="0"/>
              </a:rPr>
              <a:t> Map&lt;String, </a:t>
            </a:r>
            <a:r>
              <a:rPr lang="en-US" altLang="zh-TW" sz="1400" dirty="0" err="1">
                <a:latin typeface="Times New Roman" panose="02020603050405020304" pitchFamily="18" charset="0"/>
              </a:rPr>
              <a:t>UserData</a:t>
            </a:r>
            <a:r>
              <a:rPr lang="en-US" altLang="zh-TW" sz="1400" dirty="0">
                <a:latin typeface="Times New Roman" panose="02020603050405020304" pitchFamily="18" charset="0"/>
              </a:rPr>
              <a:t>&gt; </a:t>
            </a:r>
            <a:r>
              <a:rPr lang="en-US" altLang="zh-TW" sz="1400" dirty="0">
                <a:solidFill>
                  <a:srgbClr val="B64A9C"/>
                </a:solidFill>
                <a:latin typeface="Times New Roman" panose="02020603050405020304" pitchFamily="18" charset="0"/>
              </a:rPr>
              <a:t>users</a:t>
            </a:r>
            <a:r>
              <a:rPr lang="en-US" altLang="zh-TW" sz="1400" dirty="0">
                <a:latin typeface="Times New Roman" panose="02020603050405020304" pitchFamily="18" charset="0"/>
              </a:rPr>
              <a:t>;</a:t>
            </a:r>
          </a:p>
          <a:p>
            <a:pPr marL="0" indent="0">
              <a:buNone/>
            </a:pPr>
            <a:r>
              <a:rPr lang="en-US" altLang="zh-TW" sz="1400" dirty="0">
                <a:latin typeface="Times New Roman" panose="02020603050405020304" pitchFamily="18" charset="0"/>
              </a:rPr>
              <a:t>    </a:t>
            </a:r>
            <a:r>
              <a:rPr lang="en-US" altLang="zh-TW" sz="1400" dirty="0">
                <a:solidFill>
                  <a:srgbClr val="D1845C"/>
                </a:solidFill>
                <a:latin typeface="Times New Roman" panose="02020603050405020304" pitchFamily="18" charset="0"/>
              </a:rPr>
              <a:t>private static class </a:t>
            </a:r>
            <a:r>
              <a:rPr lang="en-US" altLang="zh-TW" sz="1400" dirty="0" err="1">
                <a:latin typeface="Times New Roman" panose="02020603050405020304" pitchFamily="18" charset="0"/>
              </a:rPr>
              <a:t>UserData</a:t>
            </a:r>
            <a:r>
              <a:rPr lang="en-US" altLang="zh-TW" sz="1400" dirty="0">
                <a:latin typeface="Times New Roman" panose="02020603050405020304" pitchFamily="18" charset="0"/>
              </a:rPr>
              <a:t>{</a:t>
            </a:r>
          </a:p>
          <a:p>
            <a:pPr marL="0" indent="0">
              <a:buNone/>
            </a:pPr>
            <a:r>
              <a:rPr lang="en-US" altLang="zh-TW" sz="1400" dirty="0">
                <a:latin typeface="Times New Roman" panose="02020603050405020304" pitchFamily="18" charset="0"/>
              </a:rPr>
              <a:t>        String </a:t>
            </a:r>
            <a:r>
              <a:rPr lang="en-US" altLang="zh-TW" sz="1400" dirty="0">
                <a:solidFill>
                  <a:srgbClr val="B64A9C"/>
                </a:solidFill>
                <a:latin typeface="Times New Roman" panose="02020603050405020304" pitchFamily="18" charset="0"/>
              </a:rPr>
              <a:t>username</a:t>
            </a:r>
            <a:r>
              <a:rPr lang="en-US" altLang="zh-TW" sz="1400" dirty="0">
                <a:latin typeface="Times New Roman" panose="02020603050405020304" pitchFamily="18" charset="0"/>
              </a:rPr>
              <a:t>;</a:t>
            </a:r>
          </a:p>
          <a:p>
            <a:pPr marL="0" indent="0">
              <a:buNone/>
            </a:pPr>
            <a:r>
              <a:rPr lang="en-US" altLang="zh-TW" sz="1400" dirty="0">
                <a:latin typeface="Times New Roman" panose="02020603050405020304" pitchFamily="18" charset="0"/>
              </a:rPr>
              <a:t>        String </a:t>
            </a:r>
            <a:r>
              <a:rPr lang="en-US" altLang="zh-TW" sz="1400" dirty="0">
                <a:solidFill>
                  <a:srgbClr val="B64A9C"/>
                </a:solidFill>
                <a:latin typeface="Times New Roman" panose="02020603050405020304" pitchFamily="18" charset="0"/>
              </a:rPr>
              <a:t>password</a:t>
            </a:r>
            <a:r>
              <a:rPr lang="en-US" altLang="zh-TW" sz="1400" dirty="0">
                <a:latin typeface="Times New Roman" panose="02020603050405020304" pitchFamily="18" charset="0"/>
              </a:rPr>
              <a:t>;</a:t>
            </a:r>
          </a:p>
          <a:p>
            <a:pPr marL="0" indent="0">
              <a:buNone/>
            </a:pPr>
            <a:r>
              <a:rPr lang="en-US" altLang="zh-TW" sz="1400" dirty="0">
                <a:solidFill>
                  <a:schemeClr val="accent2"/>
                </a:solidFill>
                <a:latin typeface="Times New Roman" panose="02020603050405020304" pitchFamily="18" charset="0"/>
              </a:rPr>
              <a:t>        </a:t>
            </a:r>
            <a:r>
              <a:rPr lang="en-US" altLang="zh-TW" sz="1400" dirty="0">
                <a:solidFill>
                  <a:srgbClr val="D1845C"/>
                </a:solidFill>
                <a:latin typeface="Times New Roman" panose="02020603050405020304" pitchFamily="18" charset="0"/>
              </a:rPr>
              <a:t>int</a:t>
            </a:r>
            <a:r>
              <a:rPr lang="en-US" altLang="zh-TW" sz="1400" dirty="0">
                <a:latin typeface="Times New Roman" panose="02020603050405020304" pitchFamily="18" charset="0"/>
              </a:rPr>
              <a:t>[] </a:t>
            </a:r>
            <a:r>
              <a:rPr lang="en-US" altLang="zh-TW" sz="1400" dirty="0" err="1">
                <a:solidFill>
                  <a:srgbClr val="B64A9C"/>
                </a:solidFill>
                <a:latin typeface="Times New Roman" panose="02020603050405020304" pitchFamily="18" charset="0"/>
              </a:rPr>
              <a:t>bankBaalances</a:t>
            </a:r>
            <a:r>
              <a:rPr lang="en-US" altLang="zh-TW" sz="1400" dirty="0">
                <a:latin typeface="Times New Roman" panose="02020603050405020304" pitchFamily="18" charset="0"/>
              </a:rPr>
              <a:t>;</a:t>
            </a:r>
          </a:p>
          <a:p>
            <a:pPr marL="0" indent="0">
              <a:buNone/>
            </a:pPr>
            <a:r>
              <a:rPr lang="en-US" altLang="zh-TW" sz="1400" dirty="0">
                <a:latin typeface="Times New Roman" panose="02020603050405020304" pitchFamily="18" charset="0"/>
              </a:rPr>
              <a:t>        </a:t>
            </a:r>
            <a:r>
              <a:rPr lang="en-US" altLang="zh-TW" sz="1400" dirty="0" err="1">
                <a:solidFill>
                  <a:srgbClr val="D1845C"/>
                </a:solidFill>
                <a:latin typeface="Times New Roman" panose="02020603050405020304" pitchFamily="18" charset="0"/>
              </a:rPr>
              <a:t>boolean</a:t>
            </a:r>
            <a:r>
              <a:rPr lang="en-US" altLang="zh-TW" sz="1400" dirty="0">
                <a:latin typeface="Times New Roman" panose="02020603050405020304" pitchFamily="18" charset="0"/>
              </a:rPr>
              <a:t>[] </a:t>
            </a:r>
            <a:r>
              <a:rPr lang="en-US" altLang="zh-TW" sz="1400" dirty="0" err="1">
                <a:solidFill>
                  <a:srgbClr val="B64A9C"/>
                </a:solidFill>
                <a:latin typeface="Times New Roman" panose="02020603050405020304" pitchFamily="18" charset="0"/>
              </a:rPr>
              <a:t>isBankOpened</a:t>
            </a:r>
            <a:r>
              <a:rPr lang="en-US" altLang="zh-TW" sz="1400" dirty="0">
                <a:latin typeface="Times New Roman" panose="02020603050405020304" pitchFamily="18" charset="0"/>
              </a:rPr>
              <a:t>;</a:t>
            </a:r>
          </a:p>
          <a:p>
            <a:pPr marL="0" indent="0">
              <a:buNone/>
            </a:pPr>
            <a:r>
              <a:rPr lang="en-US" altLang="zh-TW" sz="1400" dirty="0">
                <a:solidFill>
                  <a:srgbClr val="7A7E85"/>
                </a:solidFill>
                <a:latin typeface="Times New Roman" panose="02020603050405020304" pitchFamily="18" charset="0"/>
              </a:rPr>
              <a:t>        // … constructor</a:t>
            </a:r>
          </a:p>
          <a:p>
            <a:pPr marL="0" indent="0">
              <a:buNone/>
            </a:pPr>
            <a:r>
              <a:rPr lang="en-US" altLang="zh-TW" sz="1400" dirty="0">
                <a:latin typeface="Times New Roman" panose="02020603050405020304" pitchFamily="18" charset="0"/>
              </a:rPr>
              <a:t>    }</a:t>
            </a:r>
          </a:p>
          <a:p>
            <a:pPr marL="0" indent="0">
              <a:buNone/>
            </a:pPr>
            <a:r>
              <a:rPr lang="en-US" altLang="zh-TW" sz="1400" dirty="0">
                <a:latin typeface="Times New Roman" panose="02020603050405020304" pitchFamily="18" charset="0"/>
              </a:rPr>
              <a:t>    </a:t>
            </a:r>
            <a:r>
              <a:rPr lang="en-US" altLang="zh-TW" sz="1400" dirty="0">
                <a:solidFill>
                  <a:srgbClr val="D1845C"/>
                </a:solidFill>
                <a:latin typeface="Times New Roman" panose="02020603050405020304" pitchFamily="18" charset="0"/>
              </a:rPr>
              <a:t>private</a:t>
            </a:r>
            <a:r>
              <a:rPr lang="en-US" altLang="zh-TW" sz="1400" dirty="0">
                <a:latin typeface="Times New Roman" panose="02020603050405020304" pitchFamily="18" charset="0"/>
              </a:rPr>
              <a:t> </a:t>
            </a:r>
            <a:r>
              <a:rPr lang="en-US" altLang="zh-TW" sz="1400" dirty="0">
                <a:solidFill>
                  <a:srgbClr val="53ACDE"/>
                </a:solidFill>
                <a:latin typeface="Times New Roman" panose="02020603050405020304" pitchFamily="18" charset="0"/>
              </a:rPr>
              <a:t>Account</a:t>
            </a:r>
            <a:r>
              <a:rPr lang="en-US" altLang="zh-TW" sz="1400" dirty="0">
                <a:latin typeface="Times New Roman" panose="02020603050405020304" pitchFamily="18" charset="0"/>
              </a:rPr>
              <a:t>(){ </a:t>
            </a:r>
            <a:r>
              <a:rPr lang="en-US" altLang="zh-TW" sz="1400" dirty="0">
                <a:solidFill>
                  <a:srgbClr val="7A7E85"/>
                </a:solidFill>
                <a:latin typeface="Times New Roman" panose="02020603050405020304" pitchFamily="18" charset="0"/>
              </a:rPr>
              <a:t>// … constructor </a:t>
            </a:r>
            <a:r>
              <a:rPr lang="en-US" altLang="zh-TW" sz="1400" dirty="0">
                <a:latin typeface="Times New Roman" panose="02020603050405020304" pitchFamily="18" charset="0"/>
              </a:rPr>
              <a:t>}</a:t>
            </a:r>
          </a:p>
          <a:p>
            <a:pPr marL="0" indent="0">
              <a:buNone/>
            </a:pPr>
            <a:r>
              <a:rPr lang="en-US" altLang="zh-TW" sz="1400" dirty="0">
                <a:solidFill>
                  <a:schemeClr val="accent2"/>
                </a:solidFill>
                <a:latin typeface="Times New Roman" panose="02020603050405020304" pitchFamily="18" charset="0"/>
              </a:rPr>
              <a:t>    </a:t>
            </a:r>
            <a:r>
              <a:rPr lang="en-US" altLang="zh-TW" sz="1400" dirty="0">
                <a:solidFill>
                  <a:srgbClr val="D1845C"/>
                </a:solidFill>
                <a:latin typeface="Times New Roman" panose="02020603050405020304" pitchFamily="18" charset="0"/>
              </a:rPr>
              <a:t>public</a:t>
            </a:r>
            <a:r>
              <a:rPr lang="en-US" altLang="zh-TW" sz="1400" dirty="0">
                <a:solidFill>
                  <a:schemeClr val="accent2"/>
                </a:solidFill>
                <a:latin typeface="Times New Roman" panose="02020603050405020304" pitchFamily="18" charset="0"/>
              </a:rPr>
              <a:t> </a:t>
            </a:r>
            <a:r>
              <a:rPr lang="en-US" altLang="zh-TW" sz="1400" dirty="0">
                <a:solidFill>
                  <a:srgbClr val="D1845C"/>
                </a:solidFill>
                <a:latin typeface="Times New Roman" panose="02020603050405020304" pitchFamily="18" charset="0"/>
              </a:rPr>
              <a:t>static</a:t>
            </a:r>
            <a:r>
              <a:rPr lang="en-US" altLang="zh-TW" sz="1400" dirty="0">
                <a:latin typeface="Times New Roman" panose="02020603050405020304" pitchFamily="18" charset="0"/>
              </a:rPr>
              <a:t> Account </a:t>
            </a:r>
            <a:r>
              <a:rPr lang="en-US" altLang="zh-TW" sz="1400" dirty="0" err="1">
                <a:solidFill>
                  <a:srgbClr val="53ACDE"/>
                </a:solidFill>
                <a:latin typeface="Times New Roman" panose="02020603050405020304" pitchFamily="18" charset="0"/>
              </a:rPr>
              <a:t>getInstance</a:t>
            </a:r>
            <a:r>
              <a:rPr lang="en-US" altLang="zh-TW" sz="1400" dirty="0">
                <a:latin typeface="Times New Roman" panose="02020603050405020304" pitchFamily="18" charset="0"/>
              </a:rPr>
              <a:t>(){</a:t>
            </a:r>
          </a:p>
          <a:p>
            <a:pPr marL="0" indent="0">
              <a:buNone/>
            </a:pPr>
            <a:r>
              <a:rPr lang="en-US" altLang="zh-TW" sz="1400" dirty="0">
                <a:latin typeface="Times New Roman" panose="02020603050405020304" pitchFamily="18" charset="0"/>
              </a:rPr>
              <a:t>        </a:t>
            </a:r>
            <a:r>
              <a:rPr lang="en-US" altLang="zh-TW" sz="1400" dirty="0">
                <a:solidFill>
                  <a:srgbClr val="D1845C"/>
                </a:solidFill>
                <a:latin typeface="Times New Roman" panose="02020603050405020304" pitchFamily="18" charset="0"/>
              </a:rPr>
              <a:t>if</a:t>
            </a:r>
            <a:r>
              <a:rPr lang="en-US" altLang="zh-TW" sz="1400" dirty="0">
                <a:latin typeface="Times New Roman" panose="02020603050405020304" pitchFamily="18" charset="0"/>
              </a:rPr>
              <a:t>(</a:t>
            </a:r>
            <a:r>
              <a:rPr lang="en-US" altLang="zh-TW" sz="1400" dirty="0">
                <a:solidFill>
                  <a:srgbClr val="B64A9C"/>
                </a:solidFill>
                <a:latin typeface="Times New Roman" panose="02020603050405020304" pitchFamily="18" charset="0"/>
              </a:rPr>
              <a:t>instance</a:t>
            </a:r>
            <a:r>
              <a:rPr lang="en-US" altLang="zh-TW" sz="1400" dirty="0">
                <a:latin typeface="Times New Roman" panose="02020603050405020304" pitchFamily="18" charset="0"/>
              </a:rPr>
              <a:t> == </a:t>
            </a:r>
            <a:r>
              <a:rPr lang="en-US" altLang="zh-TW" sz="1400" dirty="0">
                <a:solidFill>
                  <a:srgbClr val="D1845C"/>
                </a:solidFill>
                <a:latin typeface="Times New Roman" panose="02020603050405020304" pitchFamily="18" charset="0"/>
              </a:rPr>
              <a:t>null</a:t>
            </a:r>
            <a:r>
              <a:rPr lang="en-US" altLang="zh-TW" sz="1400" dirty="0">
                <a:latin typeface="Times New Roman" panose="02020603050405020304" pitchFamily="18" charset="0"/>
              </a:rPr>
              <a:t>){ </a:t>
            </a:r>
            <a:r>
              <a:rPr lang="en-US" altLang="zh-TW" sz="1400" dirty="0">
                <a:solidFill>
                  <a:srgbClr val="B64A9C"/>
                </a:solidFill>
                <a:latin typeface="Times New Roman" panose="02020603050405020304" pitchFamily="18" charset="0"/>
              </a:rPr>
              <a:t>instance</a:t>
            </a:r>
            <a:r>
              <a:rPr lang="en-US" altLang="zh-TW" sz="1400" dirty="0">
                <a:latin typeface="Times New Roman" panose="02020603050405020304" pitchFamily="18" charset="0"/>
              </a:rPr>
              <a:t> =</a:t>
            </a:r>
            <a:r>
              <a:rPr lang="en-US" altLang="zh-TW" sz="1400" dirty="0">
                <a:solidFill>
                  <a:schemeClr val="accent2"/>
                </a:solidFill>
                <a:latin typeface="Times New Roman" panose="02020603050405020304" pitchFamily="18" charset="0"/>
              </a:rPr>
              <a:t> </a:t>
            </a:r>
            <a:r>
              <a:rPr lang="en-US" altLang="zh-TW" sz="1400" dirty="0">
                <a:solidFill>
                  <a:srgbClr val="D1845C"/>
                </a:solidFill>
                <a:latin typeface="Times New Roman" panose="02020603050405020304" pitchFamily="18" charset="0"/>
              </a:rPr>
              <a:t>new</a:t>
            </a:r>
            <a:r>
              <a:rPr lang="en-US" altLang="zh-TW" sz="1400" dirty="0">
                <a:latin typeface="Times New Roman" panose="02020603050405020304" pitchFamily="18" charset="0"/>
              </a:rPr>
              <a:t> Account(); }</a:t>
            </a:r>
          </a:p>
          <a:p>
            <a:pPr marL="0" indent="0">
              <a:buNone/>
            </a:pPr>
            <a:r>
              <a:rPr lang="en-US" altLang="zh-TW" sz="1400" dirty="0">
                <a:latin typeface="Times New Roman" panose="02020603050405020304" pitchFamily="18" charset="0"/>
              </a:rPr>
              <a:t>        </a:t>
            </a:r>
            <a:r>
              <a:rPr lang="en-US" altLang="zh-TW" sz="1400" dirty="0">
                <a:solidFill>
                  <a:srgbClr val="D1845C"/>
                </a:solidFill>
                <a:latin typeface="Times New Roman" panose="02020603050405020304" pitchFamily="18" charset="0"/>
              </a:rPr>
              <a:t>return</a:t>
            </a:r>
            <a:r>
              <a:rPr lang="en-US" altLang="zh-TW" sz="1400" dirty="0">
                <a:latin typeface="Times New Roman" panose="02020603050405020304" pitchFamily="18" charset="0"/>
              </a:rPr>
              <a:t> </a:t>
            </a:r>
            <a:r>
              <a:rPr lang="en-US" altLang="zh-TW" sz="1400" dirty="0">
                <a:solidFill>
                  <a:srgbClr val="B64A9C"/>
                </a:solidFill>
                <a:latin typeface="Times New Roman" panose="02020603050405020304" pitchFamily="18" charset="0"/>
              </a:rPr>
              <a:t>instance</a:t>
            </a:r>
            <a:r>
              <a:rPr lang="en-US" altLang="zh-TW" sz="1400" dirty="0">
                <a:latin typeface="Times New Roman" panose="02020603050405020304" pitchFamily="18" charset="0"/>
              </a:rPr>
              <a:t>;</a:t>
            </a:r>
          </a:p>
          <a:p>
            <a:pPr marL="0" indent="0">
              <a:buNone/>
            </a:pPr>
            <a:r>
              <a:rPr lang="en-US" altLang="zh-TW" sz="1400" dirty="0">
                <a:latin typeface="Times New Roman" panose="02020603050405020304" pitchFamily="18" charset="0"/>
              </a:rPr>
              <a:t>    }</a:t>
            </a:r>
          </a:p>
          <a:p>
            <a:pPr marL="0" indent="0">
              <a:buNone/>
            </a:pPr>
            <a:r>
              <a:rPr lang="en-US" altLang="zh-TW" sz="1400" dirty="0">
                <a:latin typeface="Times New Roman" panose="02020603050405020304" pitchFamily="18" charset="0"/>
              </a:rPr>
              <a:t>}</a:t>
            </a:r>
            <a:endParaRPr lang="zh-TW" altLang="en-US" sz="1400" dirty="0">
              <a:latin typeface="Times New Roman" panose="02020603050405020304" pitchFamily="18" charset="0"/>
            </a:endParaRPr>
          </a:p>
        </p:txBody>
      </p:sp>
      <p:sp>
        <p:nvSpPr>
          <p:cNvPr id="10" name="內容版面配置區 9">
            <a:extLst>
              <a:ext uri="{FF2B5EF4-FFF2-40B4-BE49-F238E27FC236}">
                <a16:creationId xmlns:a16="http://schemas.microsoft.com/office/drawing/2014/main" id="{2ECBACC0-A215-8CDE-FBF0-4A840214D1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554856"/>
          </a:xfrm>
        </p:spPr>
        <p:txBody>
          <a:bodyPr>
            <a:normAutofit fontScale="92500" lnSpcReduction="10000"/>
          </a:bodyPr>
          <a:lstStyle/>
          <a:p>
            <a:pPr marL="0" indent="0" algn="just">
              <a:buNone/>
            </a:pPr>
            <a:r>
              <a:rPr lang="zh-TW" altLang="en-US" sz="2400" dirty="0">
                <a:solidFill>
                  <a:srgbClr val="194465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職責</a:t>
            </a:r>
            <a:endParaRPr lang="en-US" altLang="zh-TW" sz="2400" dirty="0">
              <a:solidFill>
                <a:srgbClr val="194465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buNone/>
            </a:pP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統一管理所有使用者帳號、密碼、登入狀態以及其對應的所有銀行帳戶資料。</a:t>
            </a:r>
            <a:endParaRPr lang="en-US" altLang="zh-TW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buNone/>
            </a:pPr>
            <a:endParaRPr lang="en-US" altLang="zh-TW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buNone/>
            </a:pPr>
            <a:r>
              <a:rPr lang="zh-TW" altLang="en-US" sz="2400" dirty="0">
                <a:solidFill>
                  <a:srgbClr val="194465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設計模式</a:t>
            </a:r>
            <a:endParaRPr lang="en-US" altLang="zh-TW" sz="2400" dirty="0">
              <a:solidFill>
                <a:srgbClr val="194465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採用</a:t>
            </a:r>
            <a:r>
              <a:rPr lang="zh-TW" altLang="en-US" sz="1600" dirty="0">
                <a:solidFill>
                  <a:schemeClr val="accent4">
                    <a:lumMod val="7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單例模式</a:t>
            </a:r>
            <a:r>
              <a:rPr lang="en-US" altLang="zh-TW" sz="1600" dirty="0">
                <a:solidFill>
                  <a:schemeClr val="accent4">
                    <a:lumMod val="7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(Singleton Pattern)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，透過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‘</a:t>
            </a:r>
            <a:r>
              <a:rPr lang="en-US" altLang="zh-TW" sz="16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getInstance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()’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 方法確保系統中只有一個帳戶管理實例，避免資料不同。</a:t>
            </a:r>
            <a:endParaRPr lang="en-US" altLang="zh-TW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buNone/>
            </a:pPr>
            <a:endParaRPr lang="en-US" altLang="zh-TW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buNone/>
            </a:pPr>
            <a:r>
              <a:rPr lang="zh-TW" altLang="en-US" sz="2400" dirty="0">
                <a:solidFill>
                  <a:srgbClr val="194465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關鍵機制</a:t>
            </a:r>
            <a:endParaRPr lang="en-US" altLang="zh-TW" sz="2400" dirty="0">
              <a:solidFill>
                <a:srgbClr val="194465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just">
              <a:lnSpc>
                <a:spcPct val="110000"/>
              </a:lnSpc>
            </a:pPr>
            <a:r>
              <a:rPr lang="en-US" altLang="zh-TW" sz="1600" b="1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UserData</a:t>
            </a:r>
            <a:r>
              <a:rPr lang="zh-TW" altLang="en-US" sz="16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 靜態內部類別 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: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使用 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HashMap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將使用者名稱映射到一個 </a:t>
            </a: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UserData</a:t>
            </a:r>
            <a:r>
              <a:rPr lang="en-US" altLang="zh-TW" sz="15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物件，此物件包含該使用者的密碼、各銀行餘額 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bankBalances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)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和開戶狀態 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isBankOpened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)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en-US" altLang="zh-TW" sz="15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just">
              <a:lnSpc>
                <a:spcPct val="110000"/>
              </a:lnSpc>
            </a:pPr>
            <a:r>
              <a:rPr lang="en-US" altLang="zh-TW" sz="1500" b="1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saveUserData</a:t>
            </a:r>
            <a:r>
              <a:rPr lang="en-US" altLang="zh-TW" sz="15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() / </a:t>
            </a:r>
            <a:r>
              <a:rPr lang="en-US" altLang="zh-TW" sz="1500" b="1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loadUerData</a:t>
            </a:r>
            <a:r>
              <a:rPr lang="en-US" altLang="zh-TW" sz="15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() 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: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核心的資料持久化方法。在使用者登入前、後或成功操作後出發，確保每個使用者的銀行狀態能在不同會話間完整保存及讀取。</a:t>
            </a:r>
            <a:endParaRPr lang="en-US" altLang="zh-TW" sz="15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330925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483845-9233-5811-F71C-46EDB0AFF9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30C1E7F8-A517-E4B6-43A6-2D263B87E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zh-TW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核心支柱</a:t>
            </a:r>
            <a:r>
              <a:rPr lang="en-US" altLang="zh-TW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 II</a:t>
            </a:r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：</a:t>
            </a:r>
            <a:r>
              <a:rPr lang="en-US" altLang="zh-TW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‘Bank’</a:t>
            </a:r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 </a:t>
            </a:r>
            <a:r>
              <a:rPr lang="en-US" altLang="zh-TW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- </a:t>
            </a:r>
            <a:r>
              <a:rPr lang="zh-TW" altLang="zh-TW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交易執行的單元</a:t>
            </a:r>
            <a:endParaRPr lang="zh-TW" altLang="en-US" sz="4000" b="1" dirty="0">
              <a:solidFill>
                <a:srgbClr val="194465"/>
              </a:solidFill>
              <a:latin typeface="Times New Roman" panose="02020603050405020304" pitchFamily="18" charset="0"/>
              <a:ea typeface="新細明體" panose="02020500000000000000" pitchFamily="18" charset="-120"/>
            </a:endParaRPr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26600133-E25F-7852-F97E-7C966B5B36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334000" cy="4351338"/>
          </a:xfrm>
        </p:spPr>
        <p:txBody>
          <a:bodyPr>
            <a:normAutofit lnSpcReduction="10000"/>
          </a:bodyPr>
          <a:lstStyle/>
          <a:p>
            <a:pPr marL="0" indent="0" algn="just">
              <a:buNone/>
            </a:pPr>
            <a:r>
              <a:rPr lang="zh-TW" altLang="en-US" sz="2200" dirty="0">
                <a:solidFill>
                  <a:srgbClr val="194465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職責</a:t>
            </a:r>
            <a:endParaRPr lang="en-US" altLang="zh-TW" sz="2200" dirty="0">
              <a:solidFill>
                <a:srgbClr val="194465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lnSpc>
                <a:spcPct val="80000"/>
              </a:lnSpc>
              <a:buNone/>
            </a:pP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代表一個獨立的銀行帳戶，封裝了所有核心的金融操作邏輯，如開戶、存提款與轉帳。</a:t>
            </a:r>
            <a:endParaRPr lang="en-US" altLang="zh-TW" sz="15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lnSpc>
                <a:spcPct val="80000"/>
              </a:lnSpc>
              <a:buNone/>
            </a:pPr>
            <a:endParaRPr lang="en-US" altLang="zh-TW" sz="15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buNone/>
            </a:pPr>
            <a:r>
              <a:rPr lang="zh-TW" altLang="en-US" sz="2200" dirty="0">
                <a:solidFill>
                  <a:srgbClr val="194465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核心屬性</a:t>
            </a:r>
            <a:endParaRPr lang="en-US" altLang="zh-TW" sz="2200" dirty="0">
              <a:solidFill>
                <a:srgbClr val="194465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just">
              <a:lnSpc>
                <a:spcPct val="80000"/>
              </a:lnSpc>
            </a:pP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private int coin: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帳戶餘額。</a:t>
            </a:r>
          </a:p>
          <a:p>
            <a:pPr algn="just">
              <a:lnSpc>
                <a:spcPct val="80000"/>
              </a:lnSpc>
            </a:pP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private </a:t>
            </a: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boolean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 open :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帳戶是否已開立。</a:t>
            </a:r>
            <a:endParaRPr lang="en-US" altLang="zh-TW" sz="15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just">
              <a:lnSpc>
                <a:spcPct val="80000"/>
              </a:lnSpc>
            </a:pPr>
            <a:endParaRPr lang="en-US" altLang="zh-TW" sz="15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buNone/>
            </a:pPr>
            <a:r>
              <a:rPr lang="zh-TW" altLang="en-US" sz="2200" dirty="0">
                <a:solidFill>
                  <a:srgbClr val="194465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關鍵功能</a:t>
            </a:r>
            <a:endParaRPr lang="en-US" altLang="zh-TW" sz="2200" dirty="0">
              <a:solidFill>
                <a:srgbClr val="194465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just">
              <a:lnSpc>
                <a:spcPct val="80000"/>
              </a:lnSpc>
            </a:pP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open_an_account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(int money)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: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開立新帳戶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並設定初始金額。</a:t>
            </a:r>
          </a:p>
          <a:p>
            <a:pPr algn="just">
              <a:lnSpc>
                <a:spcPct val="80000"/>
              </a:lnSpc>
            </a:pP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saveMoney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(int money)/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sz="16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receiveMoney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(int money)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 執行存款與提款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包含餘額檢查。</a:t>
            </a:r>
          </a:p>
          <a:p>
            <a:pPr algn="just">
              <a:lnSpc>
                <a:spcPct val="80000"/>
              </a:lnSpc>
            </a:pP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transferMoney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(Bank to, int money)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 處理轉帳邏輯。此方法會呼叫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`</a:t>
            </a: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BankManager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來獲取手續費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並計算總扣款額。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65208CAE-01AF-CD93-82D7-CCD997915F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20588" y="1825625"/>
            <a:ext cx="5033211" cy="4667250"/>
          </a:xfrm>
          <a:solidFill>
            <a:srgbClr val="E3E7EA"/>
          </a:solidFill>
        </p:spPr>
        <p:txBody>
          <a:bodyPr anchor="ctr">
            <a:normAutofit lnSpcReduction="10000"/>
          </a:bodyPr>
          <a:lstStyle/>
          <a:p>
            <a:pPr marL="0" indent="0">
              <a:buNone/>
            </a:pP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public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class</a:t>
            </a:r>
            <a:r>
              <a:rPr lang="en-US" altLang="zh-TW" sz="1300" dirty="0">
                <a:latin typeface="Times New Roman" panose="02020603050405020304" pitchFamily="18" charset="0"/>
              </a:rPr>
              <a:t> Bank{</a:t>
            </a: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   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public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 err="1">
                <a:solidFill>
                  <a:srgbClr val="D1845C"/>
                </a:solidFill>
                <a:latin typeface="Times New Roman" panose="02020603050405020304" pitchFamily="18" charset="0"/>
              </a:rPr>
              <a:t>boolean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 err="1">
                <a:solidFill>
                  <a:srgbClr val="53ACDE"/>
                </a:solidFill>
                <a:latin typeface="Times New Roman" panose="02020603050405020304" pitchFamily="18" charset="0"/>
              </a:rPr>
              <a:t>open_an_account</a:t>
            </a:r>
            <a:r>
              <a:rPr lang="en-US" altLang="zh-TW" sz="1300" dirty="0">
                <a:latin typeface="Times New Roman" panose="02020603050405020304" pitchFamily="18" charset="0"/>
              </a:rPr>
              <a:t>(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int</a:t>
            </a:r>
            <a:r>
              <a:rPr lang="en-US" altLang="zh-TW" sz="1300" dirty="0">
                <a:latin typeface="Times New Roman" panose="02020603050405020304" pitchFamily="18" charset="0"/>
              </a:rPr>
              <a:t> money){</a:t>
            </a:r>
          </a:p>
          <a:p>
            <a:pPr marL="0" indent="0">
              <a:buNone/>
            </a:pP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        //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已開戶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return false ;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未開戶 設定初始金額並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return true</a:t>
            </a: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    }</a:t>
            </a: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   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public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 err="1">
                <a:solidFill>
                  <a:srgbClr val="D1845C"/>
                </a:solidFill>
                <a:latin typeface="Times New Roman" panose="02020603050405020304" pitchFamily="18" charset="0"/>
              </a:rPr>
              <a:t>boolean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 err="1">
                <a:solidFill>
                  <a:srgbClr val="53ACDE"/>
                </a:solidFill>
                <a:latin typeface="Times New Roman" panose="02020603050405020304" pitchFamily="18" charset="0"/>
              </a:rPr>
              <a:t>saveMoney</a:t>
            </a:r>
            <a:r>
              <a:rPr lang="en-US" altLang="zh-TW" sz="1300" dirty="0">
                <a:latin typeface="Times New Roman" panose="02020603050405020304" pitchFamily="18" charset="0"/>
              </a:rPr>
              <a:t>(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int</a:t>
            </a:r>
            <a:r>
              <a:rPr lang="en-US" altLang="zh-TW" sz="1300" dirty="0">
                <a:latin typeface="Times New Roman" panose="02020603050405020304" pitchFamily="18" charset="0"/>
              </a:rPr>
              <a:t> money){</a:t>
            </a:r>
          </a:p>
          <a:p>
            <a:pPr marL="0" indent="0">
              <a:buNone/>
            </a:pP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        //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未開戶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return false ;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已開戶 累加金額</a:t>
            </a:r>
            <a:endParaRPr lang="en-US" altLang="zh-TW" sz="1300" dirty="0">
              <a:solidFill>
                <a:srgbClr val="7A7E85"/>
              </a:solidFill>
              <a:latin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    }</a:t>
            </a:r>
          </a:p>
          <a:p>
            <a:pPr marL="0" indent="0">
              <a:buNone/>
            </a:pPr>
            <a:r>
              <a:rPr lang="zh-TW" altLang="en-US" sz="1300" dirty="0">
                <a:latin typeface="Times New Roman" panose="02020603050405020304" pitchFamily="18" charset="0"/>
              </a:rPr>
              <a:t>   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public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 err="1">
                <a:solidFill>
                  <a:srgbClr val="D1845C"/>
                </a:solidFill>
                <a:latin typeface="Times New Roman" panose="02020603050405020304" pitchFamily="18" charset="0"/>
              </a:rPr>
              <a:t>boolean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 err="1">
                <a:solidFill>
                  <a:srgbClr val="53ACDE"/>
                </a:solidFill>
                <a:latin typeface="Times New Roman" panose="02020603050405020304" pitchFamily="18" charset="0"/>
              </a:rPr>
              <a:t>receiveMoney</a:t>
            </a:r>
            <a:r>
              <a:rPr lang="en-US" altLang="zh-TW" sz="1300" dirty="0">
                <a:latin typeface="Times New Roman" panose="02020603050405020304" pitchFamily="18" charset="0"/>
              </a:rPr>
              <a:t>(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int</a:t>
            </a:r>
            <a:r>
              <a:rPr lang="en-US" altLang="zh-TW" sz="1300" dirty="0">
                <a:latin typeface="Times New Roman" panose="02020603050405020304" pitchFamily="18" charset="0"/>
              </a:rPr>
              <a:t> money){</a:t>
            </a:r>
          </a:p>
          <a:p>
            <a:pPr marL="0" indent="0">
              <a:buNone/>
            </a:pP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        //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未開戶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or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錢不夠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return false ;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反之 取出金額並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return true</a:t>
            </a: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    }</a:t>
            </a:r>
          </a:p>
          <a:p>
            <a:pPr marL="0" indent="0">
              <a:buNone/>
            </a:pPr>
            <a:r>
              <a:rPr lang="zh-TW" altLang="en-US" sz="1300" dirty="0">
                <a:latin typeface="Times New Roman" panose="02020603050405020304" pitchFamily="18" charset="0"/>
              </a:rPr>
              <a:t>   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public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 err="1">
                <a:solidFill>
                  <a:srgbClr val="D1845C"/>
                </a:solidFill>
                <a:latin typeface="Times New Roman" panose="02020603050405020304" pitchFamily="18" charset="0"/>
              </a:rPr>
              <a:t>boolean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 err="1">
                <a:solidFill>
                  <a:srgbClr val="53ACDE"/>
                </a:solidFill>
                <a:latin typeface="Times New Roman" panose="02020603050405020304" pitchFamily="18" charset="0"/>
              </a:rPr>
              <a:t>transferMoney</a:t>
            </a:r>
            <a:r>
              <a:rPr lang="en-US" altLang="zh-TW" sz="1300" dirty="0">
                <a:latin typeface="Times New Roman" panose="02020603050405020304" pitchFamily="18" charset="0"/>
              </a:rPr>
              <a:t>(Bank to,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int</a:t>
            </a:r>
            <a:r>
              <a:rPr lang="en-US" altLang="zh-TW" sz="1300" dirty="0">
                <a:latin typeface="Times New Roman" panose="02020603050405020304" pitchFamily="18" charset="0"/>
              </a:rPr>
              <a:t> money){</a:t>
            </a:r>
          </a:p>
          <a:p>
            <a:pPr marL="0" indent="0">
              <a:buNone/>
            </a:pP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        /*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若是雙方有沒開戶的或是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this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銀行的錢不夠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return false ; </a:t>
            </a:r>
          </a:p>
          <a:p>
            <a:pPr marL="0" indent="0">
              <a:buNone/>
            </a:pP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       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反之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this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銀行取出金額給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to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的銀行 *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/</a:t>
            </a: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    }</a:t>
            </a: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}</a:t>
            </a:r>
            <a:endParaRPr lang="zh-TW" altLang="en-US" sz="1300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8732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2F8C9B-CF22-7110-0946-0C37BC286D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BDF01389-C851-31BE-85A2-2E40311FF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核心支柱 </a:t>
            </a:r>
            <a:r>
              <a:rPr lang="en-US" altLang="zh-TW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III</a:t>
            </a:r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：</a:t>
            </a:r>
            <a:r>
              <a:rPr lang="en-US" altLang="zh-TW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‘</a:t>
            </a:r>
            <a:r>
              <a:rPr lang="en-US" altLang="zh-TW" sz="4000" b="1" dirty="0" err="1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BankManager</a:t>
            </a:r>
            <a:r>
              <a:rPr lang="en-US" altLang="zh-TW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’ - </a:t>
            </a:r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規則的制定者</a:t>
            </a:r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D777F23B-9E43-1965-1A16-73464778AD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334000" cy="4351338"/>
          </a:xfrm>
        </p:spPr>
        <p:txBody>
          <a:bodyPr>
            <a:normAutofit lnSpcReduction="10000"/>
          </a:bodyPr>
          <a:lstStyle/>
          <a:p>
            <a:pPr marL="0" indent="0" algn="just">
              <a:buNone/>
            </a:pPr>
            <a:r>
              <a:rPr lang="zh-TW" altLang="en-US" sz="2200" dirty="0">
                <a:solidFill>
                  <a:srgbClr val="194465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職責</a:t>
            </a:r>
            <a:endParaRPr lang="en-US" altLang="zh-TW" sz="2200" dirty="0">
              <a:solidFill>
                <a:srgbClr val="194465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lnSpc>
                <a:spcPct val="80000"/>
              </a:lnSpc>
              <a:buNone/>
            </a:pP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集中管理全域性的銀行規則，例如跨行手續費，並提供管理員權限的切換功能。</a:t>
            </a:r>
            <a:endParaRPr lang="en-US" altLang="zh-TW" sz="15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lnSpc>
                <a:spcPct val="80000"/>
              </a:lnSpc>
              <a:buNone/>
            </a:pPr>
            <a:endParaRPr lang="en-US" altLang="zh-TW" sz="15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buNone/>
            </a:pPr>
            <a:r>
              <a:rPr lang="zh-TW" altLang="en-US" sz="2200" dirty="0">
                <a:solidFill>
                  <a:srgbClr val="194465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設計模式</a:t>
            </a:r>
            <a:endParaRPr lang="en-US" altLang="zh-TW" sz="2200" dirty="0">
              <a:solidFill>
                <a:srgbClr val="194465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lnSpc>
                <a:spcPct val="80000"/>
              </a:lnSpc>
              <a:buNone/>
            </a:pP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同樣採用 </a:t>
            </a:r>
            <a:r>
              <a:rPr lang="zh-TW" altLang="en-US" sz="1500" dirty="0">
                <a:solidFill>
                  <a:schemeClr val="accent4">
                    <a:lumMod val="7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單例模式</a:t>
            </a:r>
            <a:r>
              <a:rPr lang="en-US" altLang="zh-TW" sz="1500" dirty="0">
                <a:solidFill>
                  <a:schemeClr val="accent4">
                    <a:lumMod val="7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(Singleton Pattern)</a:t>
            </a:r>
            <a:r>
              <a:rPr lang="zh-TW" altLang="en-US" sz="1500" dirty="0">
                <a:solidFill>
                  <a:schemeClr val="accent4">
                    <a:lumMod val="7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，確保手續費等全域規則在系統中的唯一性和一致性。</a:t>
            </a:r>
            <a:endParaRPr lang="en-US" altLang="zh-TW" sz="15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lnSpc>
                <a:spcPct val="80000"/>
              </a:lnSpc>
              <a:buNone/>
            </a:pPr>
            <a:endParaRPr lang="en-US" altLang="zh-TW" sz="15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buNone/>
            </a:pPr>
            <a:r>
              <a:rPr lang="zh-TW" altLang="en-US" sz="2200" dirty="0">
                <a:solidFill>
                  <a:srgbClr val="194465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關鍵功能</a:t>
            </a:r>
            <a:endParaRPr lang="en-US" altLang="zh-TW" sz="2200" dirty="0">
              <a:solidFill>
                <a:srgbClr val="194465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just">
              <a:lnSpc>
                <a:spcPct val="80000"/>
              </a:lnSpc>
            </a:pP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setHandlingFee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(int from, int to, int fee) :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只有在 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"root"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模式下才能成功調用，用以設定銀行間的轉帳手續費。</a:t>
            </a:r>
          </a:p>
          <a:p>
            <a:pPr algn="just">
              <a:lnSpc>
                <a:spcPct val="80000"/>
              </a:lnSpc>
            </a:pP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getHandlingFee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(int from, int to)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: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提供給 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Bank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類別在計算轉帳時查詢手續費。</a:t>
            </a:r>
          </a:p>
          <a:p>
            <a:pPr algn="just">
              <a:lnSpc>
                <a:spcPct val="80000"/>
              </a:lnSpc>
            </a:pP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enterRootMode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() / </a:t>
            </a: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exitRootMode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()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: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切換系統進入或退出管理員模式。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’</a:t>
            </a: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isRootMode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’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屬性會影響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GUI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的顯示與可用功能。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84EF30FB-3CB7-5459-DB41-7397BB79BC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20588" y="1825625"/>
            <a:ext cx="5033211" cy="4667250"/>
          </a:xfrm>
          <a:solidFill>
            <a:srgbClr val="E3E7EA"/>
          </a:solidFill>
        </p:spPr>
        <p:txBody>
          <a:bodyPr anchor="ctr">
            <a:normAutofit lnSpcReduction="10000"/>
          </a:bodyPr>
          <a:lstStyle/>
          <a:p>
            <a:pPr marL="0" indent="0">
              <a:buNone/>
            </a:pP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public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class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 err="1">
                <a:latin typeface="Times New Roman" panose="02020603050405020304" pitchFamily="18" charset="0"/>
              </a:rPr>
              <a:t>BankManager</a:t>
            </a:r>
            <a:r>
              <a:rPr lang="en-US" altLang="zh-TW" sz="1300" dirty="0">
                <a:latin typeface="Times New Roman" panose="02020603050405020304" pitchFamily="18" charset="0"/>
              </a:rPr>
              <a:t>{</a:t>
            </a: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   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public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 err="1">
                <a:solidFill>
                  <a:srgbClr val="D1845C"/>
                </a:solidFill>
                <a:latin typeface="Times New Roman" panose="02020603050405020304" pitchFamily="18" charset="0"/>
              </a:rPr>
              <a:t>boolean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400" dirty="0" err="1">
                <a:solidFill>
                  <a:srgbClr val="53ACDE"/>
                </a:solidFill>
                <a:latin typeface="Times New Roman" panose="02020603050405020304" pitchFamily="18" charset="0"/>
                <a:ea typeface="細明體" panose="02020509000000000000" pitchFamily="49" charset="-120"/>
              </a:rPr>
              <a:t>setHandlingFee</a:t>
            </a:r>
            <a:r>
              <a:rPr lang="en-US" altLang="zh-TW" sz="1400" dirty="0">
                <a:latin typeface="Times New Roman" panose="02020603050405020304" pitchFamily="18" charset="0"/>
                <a:ea typeface="細明體" panose="02020509000000000000" pitchFamily="49" charset="-120"/>
              </a:rPr>
              <a:t>(int from, int to, int fee)</a:t>
            </a:r>
            <a:r>
              <a:rPr lang="en-US" altLang="zh-TW" sz="1300" dirty="0">
                <a:latin typeface="Times New Roman" panose="02020603050405020304" pitchFamily="18" charset="0"/>
              </a:rPr>
              <a:t>{</a:t>
            </a:r>
          </a:p>
          <a:p>
            <a:pPr marL="0" indent="0">
              <a:buNone/>
            </a:pP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        //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非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root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模式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return false ;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反之調整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from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銀行到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to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銀行的手續費</a:t>
            </a:r>
            <a:endParaRPr lang="en-US" altLang="zh-TW" sz="1300" dirty="0">
              <a:solidFill>
                <a:srgbClr val="7A7E85"/>
              </a:solidFill>
              <a:latin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    }</a:t>
            </a: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   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public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int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400" dirty="0" err="1">
                <a:solidFill>
                  <a:srgbClr val="53ACDE"/>
                </a:solidFill>
                <a:latin typeface="Times New Roman" panose="02020603050405020304" pitchFamily="18" charset="0"/>
                <a:ea typeface="細明體" panose="02020509000000000000" pitchFamily="49" charset="-120"/>
              </a:rPr>
              <a:t>getHandlingFee</a:t>
            </a:r>
            <a:r>
              <a:rPr lang="en-US" altLang="zh-TW" sz="1400" dirty="0">
                <a:latin typeface="Times New Roman" panose="02020603050405020304" pitchFamily="18" charset="0"/>
                <a:ea typeface="細明體" panose="02020509000000000000" pitchFamily="49" charset="-120"/>
              </a:rPr>
              <a:t>(int from, int to){</a:t>
            </a:r>
            <a:endParaRPr lang="en-US" altLang="zh-TW" sz="1300" dirty="0">
              <a:latin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        //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獲得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from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銀行到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to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銀行的手續費</a:t>
            </a:r>
            <a:endParaRPr lang="en-US" altLang="zh-TW" sz="1300" dirty="0">
              <a:solidFill>
                <a:srgbClr val="7A7E85"/>
              </a:solidFill>
              <a:latin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    }</a:t>
            </a:r>
          </a:p>
          <a:p>
            <a:pPr marL="0" indent="0">
              <a:buNone/>
            </a:pPr>
            <a:r>
              <a:rPr lang="zh-TW" altLang="en-US" sz="1300" dirty="0">
                <a:latin typeface="Times New Roman" panose="02020603050405020304" pitchFamily="18" charset="0"/>
              </a:rPr>
              <a:t>   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public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void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400" dirty="0" err="1">
                <a:solidFill>
                  <a:srgbClr val="53ACDE"/>
                </a:solidFill>
                <a:latin typeface="Times New Roman" panose="02020603050405020304" pitchFamily="18" charset="0"/>
                <a:ea typeface="細明體" panose="02020509000000000000" pitchFamily="49" charset="-120"/>
              </a:rPr>
              <a:t>enterRootMode</a:t>
            </a:r>
            <a:r>
              <a:rPr lang="en-US" altLang="zh-TW" sz="1400" dirty="0">
                <a:latin typeface="Times New Roman" panose="02020603050405020304" pitchFamily="18" charset="0"/>
                <a:ea typeface="細明體" panose="02020509000000000000" pitchFamily="49" charset="-120"/>
              </a:rPr>
              <a:t>()</a:t>
            </a:r>
            <a:r>
              <a:rPr lang="en-US" altLang="zh-TW" sz="1300" dirty="0">
                <a:latin typeface="Times New Roman" panose="02020603050405020304" pitchFamily="18" charset="0"/>
              </a:rPr>
              <a:t>{</a:t>
            </a:r>
          </a:p>
          <a:p>
            <a:pPr marL="0" indent="0">
              <a:buNone/>
            </a:pP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        //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開啟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root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模式</a:t>
            </a:r>
            <a:endParaRPr lang="en-US" altLang="zh-TW" sz="1300" dirty="0">
              <a:solidFill>
                <a:srgbClr val="7A7E85"/>
              </a:solidFill>
              <a:latin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    }</a:t>
            </a:r>
          </a:p>
          <a:p>
            <a:pPr marL="0" indent="0">
              <a:buNone/>
            </a:pPr>
            <a:r>
              <a:rPr lang="zh-TW" altLang="en-US" sz="1300" dirty="0">
                <a:latin typeface="Times New Roman" panose="02020603050405020304" pitchFamily="18" charset="0"/>
              </a:rPr>
              <a:t>   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public</a:t>
            </a:r>
            <a:r>
              <a:rPr lang="zh-TW" altLang="en-US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void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400" dirty="0" err="1">
                <a:solidFill>
                  <a:srgbClr val="53ACDE"/>
                </a:solidFill>
                <a:latin typeface="Times New Roman" panose="02020603050405020304" pitchFamily="18" charset="0"/>
                <a:ea typeface="細明體" panose="02020509000000000000" pitchFamily="49" charset="-120"/>
              </a:rPr>
              <a:t>exitRootMode</a:t>
            </a:r>
            <a:r>
              <a:rPr lang="en-US" altLang="zh-TW" sz="1400" dirty="0">
                <a:latin typeface="Times New Roman" panose="02020603050405020304" pitchFamily="18" charset="0"/>
                <a:ea typeface="細明體" panose="02020509000000000000" pitchFamily="49" charset="-120"/>
              </a:rPr>
              <a:t>()</a:t>
            </a:r>
            <a:r>
              <a:rPr lang="en-US" altLang="zh-TW" sz="1300" dirty="0">
                <a:latin typeface="Times New Roman" panose="02020603050405020304" pitchFamily="18" charset="0"/>
              </a:rPr>
              <a:t>{</a:t>
            </a:r>
          </a:p>
          <a:p>
            <a:pPr marL="0" indent="0">
              <a:buNone/>
            </a:pP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        //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關閉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root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模式</a:t>
            </a:r>
            <a:endParaRPr lang="en-US" altLang="zh-TW" sz="1300" dirty="0">
              <a:solidFill>
                <a:srgbClr val="7A7E85"/>
              </a:solidFill>
              <a:latin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    }</a:t>
            </a: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}</a:t>
            </a:r>
            <a:endParaRPr lang="zh-TW" altLang="en-US" sz="1300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04524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FB2CF2-1632-8261-B535-ED6C147A0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C6C2C828-0788-123F-BD21-655D242E2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指揮中心 </a:t>
            </a:r>
            <a:r>
              <a:rPr lang="en-US" altLang="zh-TW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‘Main’</a:t>
            </a:r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：串連邏輯與介面的橋樑</a:t>
            </a:r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4FA35338-4AAB-698C-8537-45B872B93A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334000" cy="4555510"/>
          </a:xfrm>
        </p:spPr>
        <p:txBody>
          <a:bodyPr>
            <a:normAutofit fontScale="92500" lnSpcReduction="10000"/>
          </a:bodyPr>
          <a:lstStyle/>
          <a:p>
            <a:pPr marL="0" indent="0" algn="just">
              <a:buNone/>
            </a:pPr>
            <a:r>
              <a:rPr lang="zh-TW" altLang="en-US" sz="2200" dirty="0">
                <a:solidFill>
                  <a:srgbClr val="194465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職責</a:t>
            </a:r>
            <a:endParaRPr lang="en-US" altLang="zh-TW" sz="2200" dirty="0">
              <a:solidFill>
                <a:srgbClr val="194465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buNone/>
            </a:pPr>
            <a:r>
              <a:rPr lang="en-US" altLang="zh-TW" sz="15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1. </a:t>
            </a:r>
            <a:r>
              <a:rPr lang="zh-TW" altLang="en-US" sz="15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初始化系統</a:t>
            </a:r>
          </a:p>
          <a:p>
            <a:pPr marL="198000" indent="0">
              <a:buNone/>
            </a:pP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程式啟動時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創建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‘Bank’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‘Account’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，和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‘</a:t>
            </a: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BankManager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’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的單例實例。</a:t>
            </a:r>
          </a:p>
          <a:p>
            <a:pPr marL="0" indent="0" algn="just">
              <a:buNone/>
            </a:pPr>
            <a:r>
              <a:rPr lang="en-US" altLang="zh-TW" sz="15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2. </a:t>
            </a:r>
            <a:r>
              <a:rPr lang="zh-TW" altLang="en-US" sz="15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建構</a:t>
            </a:r>
            <a:r>
              <a:rPr lang="en-US" altLang="zh-TW" sz="15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GUI</a:t>
            </a:r>
            <a:r>
              <a:rPr lang="zh-TW" altLang="en-US" sz="15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介面</a:t>
            </a:r>
          </a:p>
          <a:p>
            <a:pPr marL="198000" indent="0" algn="just">
              <a:buNone/>
            </a:pP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使用 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Java Swing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建立所有視覺元件，包括主視窗、文字區域、按鈕面板及設定選單。</a:t>
            </a:r>
          </a:p>
          <a:p>
            <a:pPr marL="0" indent="0" algn="just">
              <a:buNone/>
            </a:pPr>
            <a:r>
              <a:rPr lang="en-US" altLang="zh-TW" sz="15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3. </a:t>
            </a:r>
            <a:r>
              <a:rPr lang="zh-TW" altLang="en-US" sz="15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事件處理</a:t>
            </a:r>
            <a:r>
              <a:rPr lang="en-US" altLang="zh-TW" sz="15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(Event Handling)</a:t>
            </a:r>
          </a:p>
          <a:p>
            <a:pPr marL="198000" indent="0" algn="just">
              <a:buNone/>
            </a:pP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為所有按鈕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如「轉帳」、「開戶」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添加 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‘ActionListener’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，將使用者的點擊事件連結到後端業務邏輯的調用。</a:t>
            </a:r>
          </a:p>
          <a:p>
            <a:pPr marL="0" indent="0" algn="just">
              <a:buNone/>
            </a:pPr>
            <a:r>
              <a:rPr lang="en-US" altLang="zh-TW" sz="15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4. </a:t>
            </a:r>
            <a:r>
              <a:rPr lang="zh-TW" altLang="en-US" sz="15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狀態更新</a:t>
            </a:r>
          </a:p>
          <a:p>
            <a:pPr marL="198000" indent="0" algn="just">
              <a:buNone/>
            </a:pP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根據後端資料的變化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即時調用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‘</a:t>
            </a: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printMain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()’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和 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‘</a:t>
            </a: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updateLabels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()’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方法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刷新介面上顯示的餘額、使用者名稱和銀行狀態。</a:t>
            </a:r>
          </a:p>
          <a:p>
            <a:pPr marL="0" indent="0" algn="just">
              <a:buNone/>
            </a:pPr>
            <a:r>
              <a:rPr lang="en-US" altLang="zh-TW" sz="15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5. </a:t>
            </a:r>
            <a:r>
              <a:rPr lang="zh-TW" altLang="en-US" sz="15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動態介面</a:t>
            </a:r>
          </a:p>
          <a:p>
            <a:pPr marL="198000" indent="0" algn="just">
              <a:buNone/>
            </a:pP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根據 </a:t>
            </a: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BankManager.isRootMode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()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的狀態，調用</a:t>
            </a: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updateSidebar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()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來動態切換使用者按鈕和管理者按鈕。</a:t>
            </a:r>
          </a:p>
        </p:txBody>
      </p:sp>
      <p:pic>
        <p:nvPicPr>
          <p:cNvPr id="8" name="內容版面配置區 7" descr="一張含有 圖表, 螢幕擷取畫面, 文字, 行 的圖片&#10;&#10;AI 產生的內容可能不正確。">
            <a:extLst>
              <a:ext uri="{FF2B5EF4-FFF2-40B4-BE49-F238E27FC236}">
                <a16:creationId xmlns:a16="http://schemas.microsoft.com/office/drawing/2014/main" id="{86C018DF-80C8-5C06-CD7A-42FB0D2851E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2407477"/>
            <a:ext cx="5181600" cy="3391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45126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01BBFB-2E3E-880A-C96C-60EB655BE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9618CA0-51C2-1494-D5B5-B8410004FB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使用者介面：一個直觀互動的門戶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0E508F-5045-DABC-DC51-364B3C73DD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2941320" cy="466725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altLang="zh-TW" sz="2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1.</a:t>
            </a:r>
            <a:r>
              <a:rPr lang="zh-TW" altLang="en-US" sz="2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使用者狀態區 </a:t>
            </a:r>
            <a:r>
              <a:rPr lang="en-US" altLang="zh-TW" sz="2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2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endParaRPr lang="en-US" altLang="zh-TW" sz="2000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216000" indent="0" algn="just">
              <a:buNone/>
            </a:pP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顯示「當前使用者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遊客」，登入後會變更顏色與名稱，由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‘</a:t>
            </a:r>
            <a:r>
              <a:rPr lang="en-US" altLang="zh-TW" sz="18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userLabel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’ 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控制。</a:t>
            </a:r>
            <a:endParaRPr lang="en-US" altLang="zh-TW" sz="1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216000" indent="0" algn="just">
              <a:buNone/>
            </a:pPr>
            <a:endParaRPr lang="en-US" altLang="zh-TW" sz="1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2.</a:t>
            </a:r>
            <a:r>
              <a:rPr lang="zh-TW" altLang="en-US" sz="2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銀行餘額區 </a:t>
            </a:r>
            <a:r>
              <a:rPr lang="en-US" altLang="zh-TW" sz="2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: </a:t>
            </a:r>
          </a:p>
          <a:p>
            <a:pPr marL="216000" indent="0" algn="just">
              <a:buNone/>
            </a:pP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列出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A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B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C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銀行的開戶狀態與各自餘額，由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‘</a:t>
            </a:r>
            <a:r>
              <a:rPr lang="en-US" altLang="zh-TW" sz="18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bankArea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’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 控制。</a:t>
            </a:r>
            <a:endParaRPr lang="en-US" altLang="zh-TW" sz="1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216000" indent="0" algn="just">
              <a:buNone/>
            </a:pPr>
            <a:endParaRPr lang="en-US" altLang="zh-TW" sz="1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buNone/>
            </a:pPr>
            <a:r>
              <a:rPr lang="en-US" altLang="zh-TW" sz="21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3.</a:t>
            </a:r>
            <a:r>
              <a:rPr lang="zh-TW" altLang="en-US" sz="21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功能操作區 </a:t>
            </a:r>
            <a:r>
              <a:rPr lang="en-US" altLang="zh-TW" sz="21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21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endParaRPr lang="en-US" altLang="zh-TW" sz="2100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216000" indent="0" algn="just">
              <a:buNone/>
            </a:pP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下方的按鈕面板，根據使用者或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root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模式動態顯示不同按鈕，由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‘sidebar’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 控制。</a:t>
            </a:r>
          </a:p>
        </p:txBody>
      </p:sp>
      <p:pic>
        <p:nvPicPr>
          <p:cNvPr id="9" name="內容版面配置區 8" descr="一張含有 文字, 電子產品, 螢幕擷取畫面, 陳列 的圖片&#10;&#10;AI 產生的內容可能不正確。">
            <a:extLst>
              <a:ext uri="{FF2B5EF4-FFF2-40B4-BE49-F238E27FC236}">
                <a16:creationId xmlns:a16="http://schemas.microsoft.com/office/drawing/2014/main" id="{3B47BB34-1B71-19A7-FBE4-98F8F963197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022725" y="1939573"/>
            <a:ext cx="3719513" cy="4123441"/>
          </a:xfrm>
          <a:prstGeom prst="rect">
            <a:avLst/>
          </a:prstGeom>
        </p:spPr>
      </p:pic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3E62D3F5-3898-5BD0-28CD-514065FA73B2}"/>
              </a:ext>
            </a:extLst>
          </p:cNvPr>
          <p:cNvSpPr txBox="1">
            <a:spLocks/>
          </p:cNvSpPr>
          <p:nvPr/>
        </p:nvSpPr>
        <p:spPr>
          <a:xfrm>
            <a:off x="7985760" y="1825625"/>
            <a:ext cx="294132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TW" sz="2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4.</a:t>
            </a:r>
            <a:r>
              <a:rPr lang="zh-TW" altLang="en-US" sz="2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系統設定選單 </a:t>
            </a:r>
            <a:r>
              <a:rPr lang="en-US" altLang="zh-TW" sz="2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: </a:t>
            </a:r>
          </a:p>
          <a:p>
            <a:pPr marL="216000" indent="0" algn="just">
              <a:buNone/>
            </a:pP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「設定」按鈕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提供切換帳號、進入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退出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root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模式等功能。</a:t>
            </a:r>
            <a:endParaRPr lang="en-US" altLang="zh-TW" sz="1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216000" indent="0" algn="just">
              <a:buNone/>
            </a:pPr>
            <a:endParaRPr lang="en-US" altLang="zh-TW" sz="1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5.</a:t>
            </a:r>
            <a:r>
              <a:rPr lang="zh-TW" altLang="en-US" sz="2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資產總覽區 </a:t>
            </a:r>
            <a:r>
              <a:rPr lang="en-US" altLang="zh-TW" sz="2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: </a:t>
            </a:r>
          </a:p>
          <a:p>
            <a:pPr marL="216000" indent="0" algn="just">
              <a:buNone/>
            </a:pP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顯示「總餘額」。由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‘</a:t>
            </a:r>
            <a:r>
              <a:rPr lang="en-US" altLang="zh-TW" sz="18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moneyArea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’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 控制。</a:t>
            </a:r>
          </a:p>
        </p:txBody>
      </p: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92002584-457F-377F-46AC-C33A0FA8B021}"/>
              </a:ext>
            </a:extLst>
          </p:cNvPr>
          <p:cNvCxnSpPr/>
          <p:nvPr/>
        </p:nvCxnSpPr>
        <p:spPr>
          <a:xfrm>
            <a:off x="3779520" y="2407920"/>
            <a:ext cx="243205" cy="132080"/>
          </a:xfrm>
          <a:prstGeom prst="line">
            <a:avLst/>
          </a:prstGeom>
          <a:ln w="38100">
            <a:solidFill>
              <a:srgbClr val="53AC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矩形 13">
            <a:extLst>
              <a:ext uri="{FF2B5EF4-FFF2-40B4-BE49-F238E27FC236}">
                <a16:creationId xmlns:a16="http://schemas.microsoft.com/office/drawing/2014/main" id="{A4476744-503C-1D6D-72E6-F96E5CF7337F}"/>
              </a:ext>
            </a:extLst>
          </p:cNvPr>
          <p:cNvSpPr/>
          <p:nvPr/>
        </p:nvSpPr>
        <p:spPr>
          <a:xfrm>
            <a:off x="4022724" y="2540000"/>
            <a:ext cx="1276985" cy="287020"/>
          </a:xfrm>
          <a:prstGeom prst="rect">
            <a:avLst/>
          </a:prstGeom>
          <a:noFill/>
          <a:ln w="38100">
            <a:solidFill>
              <a:srgbClr val="53AC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6" name="直線接點 15">
            <a:extLst>
              <a:ext uri="{FF2B5EF4-FFF2-40B4-BE49-F238E27FC236}">
                <a16:creationId xmlns:a16="http://schemas.microsoft.com/office/drawing/2014/main" id="{06535846-B022-15E7-994D-23F574AD5A11}"/>
              </a:ext>
            </a:extLst>
          </p:cNvPr>
          <p:cNvCxnSpPr>
            <a:cxnSpLocks/>
            <a:endCxn id="17" idx="1"/>
          </p:cNvCxnSpPr>
          <p:nvPr/>
        </p:nvCxnSpPr>
        <p:spPr>
          <a:xfrm flipV="1">
            <a:off x="3688080" y="3307080"/>
            <a:ext cx="334644" cy="617220"/>
          </a:xfrm>
          <a:prstGeom prst="line">
            <a:avLst/>
          </a:prstGeom>
          <a:ln w="38100">
            <a:solidFill>
              <a:srgbClr val="53AC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矩形 16">
            <a:extLst>
              <a:ext uri="{FF2B5EF4-FFF2-40B4-BE49-F238E27FC236}">
                <a16:creationId xmlns:a16="http://schemas.microsoft.com/office/drawing/2014/main" id="{E2AFA0C1-8964-B1DE-9E0C-DF726FFDE355}"/>
              </a:ext>
            </a:extLst>
          </p:cNvPr>
          <p:cNvSpPr/>
          <p:nvPr/>
        </p:nvSpPr>
        <p:spPr>
          <a:xfrm>
            <a:off x="4022724" y="2887980"/>
            <a:ext cx="1661796" cy="838200"/>
          </a:xfrm>
          <a:prstGeom prst="rect">
            <a:avLst/>
          </a:prstGeom>
          <a:noFill/>
          <a:ln w="38100">
            <a:solidFill>
              <a:srgbClr val="53AC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4D86D93-BDE2-E356-B6D9-E6FC3AA016CC}"/>
              </a:ext>
            </a:extLst>
          </p:cNvPr>
          <p:cNvSpPr/>
          <p:nvPr/>
        </p:nvSpPr>
        <p:spPr>
          <a:xfrm>
            <a:off x="4229100" y="5417820"/>
            <a:ext cx="3238500" cy="487680"/>
          </a:xfrm>
          <a:prstGeom prst="rect">
            <a:avLst/>
          </a:prstGeom>
          <a:noFill/>
          <a:ln w="38100">
            <a:solidFill>
              <a:srgbClr val="53AC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22" name="直線接點 21">
            <a:extLst>
              <a:ext uri="{FF2B5EF4-FFF2-40B4-BE49-F238E27FC236}">
                <a16:creationId xmlns:a16="http://schemas.microsoft.com/office/drawing/2014/main" id="{12142625-26ED-DD1A-3F1A-72E40B8A4FB8}"/>
              </a:ext>
            </a:extLst>
          </p:cNvPr>
          <p:cNvCxnSpPr>
            <a:endCxn id="20" idx="1"/>
          </p:cNvCxnSpPr>
          <p:nvPr/>
        </p:nvCxnSpPr>
        <p:spPr>
          <a:xfrm flipV="1">
            <a:off x="3733800" y="5661660"/>
            <a:ext cx="495300" cy="114300"/>
          </a:xfrm>
          <a:prstGeom prst="line">
            <a:avLst/>
          </a:prstGeom>
          <a:ln w="38100">
            <a:solidFill>
              <a:srgbClr val="53AC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 22">
            <a:extLst>
              <a:ext uri="{FF2B5EF4-FFF2-40B4-BE49-F238E27FC236}">
                <a16:creationId xmlns:a16="http://schemas.microsoft.com/office/drawing/2014/main" id="{AA91BE02-5ED2-8F02-3E7C-B439FB49DA85}"/>
              </a:ext>
            </a:extLst>
          </p:cNvPr>
          <p:cNvSpPr/>
          <p:nvPr/>
        </p:nvSpPr>
        <p:spPr>
          <a:xfrm>
            <a:off x="7117080" y="2225040"/>
            <a:ext cx="625158" cy="314960"/>
          </a:xfrm>
          <a:prstGeom prst="rect">
            <a:avLst/>
          </a:prstGeom>
          <a:noFill/>
          <a:ln w="38100">
            <a:solidFill>
              <a:srgbClr val="53AC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25" name="直線接點 24">
            <a:extLst>
              <a:ext uri="{FF2B5EF4-FFF2-40B4-BE49-F238E27FC236}">
                <a16:creationId xmlns:a16="http://schemas.microsoft.com/office/drawing/2014/main" id="{A9DEEA87-39E5-6953-BC03-0C8ADD150429}"/>
              </a:ext>
            </a:extLst>
          </p:cNvPr>
          <p:cNvCxnSpPr>
            <a:cxnSpLocks/>
            <a:endCxn id="23" idx="3"/>
          </p:cNvCxnSpPr>
          <p:nvPr/>
        </p:nvCxnSpPr>
        <p:spPr>
          <a:xfrm flipH="1">
            <a:off x="7742238" y="2382520"/>
            <a:ext cx="312102" cy="0"/>
          </a:xfrm>
          <a:prstGeom prst="line">
            <a:avLst/>
          </a:prstGeom>
          <a:ln w="38100">
            <a:solidFill>
              <a:srgbClr val="53AC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矩形 26">
            <a:extLst>
              <a:ext uri="{FF2B5EF4-FFF2-40B4-BE49-F238E27FC236}">
                <a16:creationId xmlns:a16="http://schemas.microsoft.com/office/drawing/2014/main" id="{80E8C4AA-4788-7C8C-CEE6-EA18F5098DC1}"/>
              </a:ext>
            </a:extLst>
          </p:cNvPr>
          <p:cNvSpPr/>
          <p:nvPr/>
        </p:nvSpPr>
        <p:spPr>
          <a:xfrm>
            <a:off x="6530340" y="2540000"/>
            <a:ext cx="1211898" cy="347979"/>
          </a:xfrm>
          <a:prstGeom prst="rect">
            <a:avLst/>
          </a:prstGeom>
          <a:noFill/>
          <a:ln w="38100">
            <a:solidFill>
              <a:srgbClr val="53AC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29" name="直線接點 28">
            <a:extLst>
              <a:ext uri="{FF2B5EF4-FFF2-40B4-BE49-F238E27FC236}">
                <a16:creationId xmlns:a16="http://schemas.microsoft.com/office/drawing/2014/main" id="{A22858B8-41A8-7B51-523D-9D4E3938516C}"/>
              </a:ext>
            </a:extLst>
          </p:cNvPr>
          <p:cNvCxnSpPr>
            <a:cxnSpLocks/>
            <a:endCxn id="27" idx="3"/>
          </p:cNvCxnSpPr>
          <p:nvPr/>
        </p:nvCxnSpPr>
        <p:spPr>
          <a:xfrm flipH="1" flipV="1">
            <a:off x="7742238" y="2713990"/>
            <a:ext cx="312102" cy="774416"/>
          </a:xfrm>
          <a:prstGeom prst="line">
            <a:avLst/>
          </a:prstGeom>
          <a:ln w="38100">
            <a:solidFill>
              <a:srgbClr val="53AC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0852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E073BA-2BCD-DE3B-B6F3-E61EF7E57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089C13F-6E9C-7F7A-5F2D-4D12DD0C9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身份的起點：使用者註冊與登入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103437C-C73F-52F4-FB86-66A33A0DCB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33934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流程說明</a:t>
            </a:r>
            <a:r>
              <a:rPr lang="en-US" altLang="zh-TW" sz="2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</a:p>
          <a:p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使用者點擊「設定」選單中的「切換帳號」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會彈出一個包含「登入」和「註冊」標籤頁的</a:t>
            </a:r>
            <a:r>
              <a:rPr lang="en-US" altLang="zh-TW" sz="18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JDialog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對話框。</a:t>
            </a:r>
          </a:p>
          <a:p>
            <a:r>
              <a:rPr lang="zh-TW" altLang="en-US" sz="18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註冊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: 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輸入帳號密碼後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系統調用</a:t>
            </a:r>
            <a:r>
              <a:rPr lang="en-US" altLang="zh-TW" sz="18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Account.register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()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。成功後會自動跳轉至登入頁面。</a:t>
            </a:r>
          </a:p>
          <a:p>
            <a:r>
              <a:rPr lang="zh-TW" altLang="en-US" sz="18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登入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: 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驗證成功後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系統會先調用</a:t>
            </a:r>
            <a:r>
              <a:rPr lang="en-US" altLang="zh-TW" sz="18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Account.saveUserData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()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保存上一位使用者的資料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然後調用 </a:t>
            </a:r>
            <a:r>
              <a:rPr lang="en-US" altLang="zh-TW" sz="18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Account.loadUserData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 ()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載入新登入者的銀行資料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並更新主介面。</a:t>
            </a:r>
          </a:p>
          <a:p>
            <a:r>
              <a:rPr lang="zh-TW" altLang="en-US" sz="18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登出</a:t>
            </a:r>
            <a:r>
              <a:rPr lang="en-US" altLang="zh-TW" sz="18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sz="18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遊客模式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: 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選擇登出時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系統會調用</a:t>
            </a:r>
            <a:r>
              <a:rPr lang="en-US" altLang="zh-TW" sz="18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Account.logout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(),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它會先儲存當使用者資料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再切換至遊客身份並載入遊客資料。</a:t>
            </a:r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46031EFA-F844-696A-7A7B-71F6FD0B8BB3}"/>
              </a:ext>
            </a:extLst>
          </p:cNvPr>
          <p:cNvSpPr txBox="1">
            <a:spLocks/>
          </p:cNvSpPr>
          <p:nvPr/>
        </p:nvSpPr>
        <p:spPr>
          <a:xfrm>
            <a:off x="6096000" y="1960562"/>
            <a:ext cx="5257800" cy="19857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zh-TW" altLang="en-US" dirty="0"/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97F50CA0-8061-8DED-7C37-76341F1F8F06}"/>
              </a:ext>
            </a:extLst>
          </p:cNvPr>
          <p:cNvSpPr txBox="1">
            <a:spLocks/>
          </p:cNvSpPr>
          <p:nvPr/>
        </p:nvSpPr>
        <p:spPr>
          <a:xfrm>
            <a:off x="6096000" y="4458328"/>
            <a:ext cx="5257800" cy="19857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77BAF248-A9A9-8161-4803-395F972E24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7418" y="1402961"/>
            <a:ext cx="3465885" cy="2631772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44769CF8-E859-E062-ED41-2351C100C4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7417" y="3698069"/>
            <a:ext cx="3465885" cy="2606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3358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AB9EAD-7FE9-0401-61D1-27138A1D0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E2AA1D3-FD51-4CCC-302E-DCF80EAAC6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日常操作：開戶、存提與轉帳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782E16D-C175-9132-F0AA-4E08F0B5E7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3714135" cy="20405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18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互動方式</a:t>
            </a:r>
          </a:p>
          <a:p>
            <a:pPr marL="0" indent="0">
              <a:buNone/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所有核心銀行功能皆透過</a:t>
            </a:r>
            <a:r>
              <a:rPr lang="en-US" altLang="zh-TW" sz="14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JOption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 Pane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彈出式對話框完成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引導使用者選擇銀行並輸入金額。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A763570-9B31-2ECB-1883-26A8C9C4D6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3866147"/>
            <a:ext cx="10515600" cy="23108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18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功能展示</a:t>
            </a:r>
            <a:endParaRPr lang="en-US" altLang="zh-TW" sz="1800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開戶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使用者選擇銀行並輸入初始存款金額。</a:t>
            </a:r>
          </a:p>
          <a:p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存款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提款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使用者選擇目標銀行並輸入金額。</a:t>
            </a:r>
          </a:p>
          <a:p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轉帳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使用者需選擇轉出銀行和轉入銀行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並輸入金額。在確認前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對話框會提示本次交易所需的手續費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這是由 </a:t>
            </a:r>
            <a:r>
              <a:rPr lang="en-US" altLang="zh-TW" sz="14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bankManager.getHandling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 Fee() 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動態計算的。</a:t>
            </a:r>
          </a:p>
          <a:p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每次成功操作後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系統都會調用 </a:t>
            </a:r>
            <a:r>
              <a:rPr lang="en-US" altLang="zh-TW" sz="14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userManager.saveUserData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()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來保存最新狀態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並刷新主介面。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72A63AA7-D727-8464-C723-380CCD7664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18905" y="1690688"/>
            <a:ext cx="3134162" cy="1476581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38C58AB8-1FEB-44EC-92E6-D3B62974FA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50198" y="1698904"/>
            <a:ext cx="3934374" cy="1419423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35441C96-F0C5-8767-956F-1AA3A04BAA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18905" y="3233365"/>
            <a:ext cx="3105583" cy="1467055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B3CFFE23-C025-66D7-DD44-339A9EAD387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94" b="994"/>
          <a:stretch/>
        </p:blipFill>
        <p:spPr>
          <a:xfrm>
            <a:off x="8474147" y="3223839"/>
            <a:ext cx="3105583" cy="1447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07539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EA4292-6568-0EE8-C23B-46F0791C8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BCFA991-C730-7049-8162-FA5D682B8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z="4000" b="1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銀行經理：</a:t>
            </a:r>
            <a:r>
              <a:rPr lang="en-US" altLang="zh-TW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Root </a:t>
            </a:r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管理模式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7EB01CB-1FE6-BCFC-5960-4FB3B4276A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544943"/>
            <a:ext cx="5257800" cy="4632019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buNone/>
            </a:pPr>
            <a:r>
              <a:rPr lang="zh-TW" altLang="en-US" sz="1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進入方式 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 從「設定」選單選擇「進入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root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管理模式」。</a:t>
            </a:r>
            <a:endParaRPr lang="en-US" altLang="zh-TW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zh-TW" altLang="en-US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just">
              <a:lnSpc>
                <a:spcPct val="110000"/>
              </a:lnSpc>
            </a:pPr>
            <a:r>
              <a:rPr lang="zh-TW" altLang="en-US" sz="1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介面變化 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</a:p>
          <a:p>
            <a:pPr marL="468000" algn="just">
              <a:lnSpc>
                <a:spcPct val="110000"/>
              </a:lnSpc>
              <a:buFont typeface="Times New Roman" panose="02020603050405020304" pitchFamily="18" charset="0"/>
              <a:buChar char="○"/>
            </a:pPr>
            <a:r>
              <a:rPr lang="zh-TW" altLang="en-US" sz="1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使用者狀態 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: user Label 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文字變為紅色的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"root"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</a:p>
          <a:p>
            <a:pPr marL="468000" algn="just">
              <a:lnSpc>
                <a:spcPct val="110000"/>
              </a:lnSpc>
              <a:buFont typeface="Times New Roman" panose="02020603050405020304" pitchFamily="18" charset="0"/>
              <a:buChar char="○"/>
            </a:pPr>
            <a:r>
              <a:rPr lang="zh-TW" altLang="en-US" sz="1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資產顯示 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 總餘額與各銀行餘額均顯示為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"null",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保護隱私並表示當前非交易狀態。</a:t>
            </a:r>
          </a:p>
          <a:p>
            <a:pPr marL="468000" algn="just">
              <a:lnSpc>
                <a:spcPct val="110000"/>
              </a:lnSpc>
              <a:buFont typeface="Times New Roman" panose="02020603050405020304" pitchFamily="18" charset="0"/>
              <a:buChar char="○"/>
            </a:pPr>
            <a:r>
              <a:rPr lang="zh-TW" altLang="en-US" sz="1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功能按鈕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 下方的按鈕面板 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(sidebar) 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會被清空並替換為管理員專用按鈕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「設定手續費」和「查看手續費」。一般銀行業務按鈕被禁用。</a:t>
            </a:r>
          </a:p>
          <a:p>
            <a:pPr algn="just">
              <a:lnSpc>
                <a:spcPct val="110000"/>
              </a:lnSpc>
            </a:pPr>
            <a:r>
              <a:rPr lang="zh-TW" altLang="en-US" sz="1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專屬功能 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</a:p>
          <a:p>
            <a:pPr marL="468000" algn="just">
              <a:lnSpc>
                <a:spcPct val="110000"/>
              </a:lnSpc>
              <a:buFont typeface="Times New Roman" panose="02020603050405020304" pitchFamily="18" charset="0"/>
              <a:buChar char="○"/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管理者可以設定任意兩家不同銀行間的轉帳手續費。</a:t>
            </a:r>
          </a:p>
          <a:p>
            <a:pPr marL="468000" algn="just">
              <a:lnSpc>
                <a:spcPct val="110000"/>
              </a:lnSpc>
              <a:buFont typeface="Times New Roman" panose="02020603050405020304" pitchFamily="18" charset="0"/>
              <a:buChar char="○"/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可以查看當前所有手續費的設定。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17D7C02-F601-DC81-B2FD-8C20FF7E19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94616" y="2044633"/>
            <a:ext cx="4959183" cy="3312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27187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CA98C8-A486-1A75-2930-6C20932CE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FD31A5-48B8-4DA1-8320-0CFC53FD9605}"/>
              </a:ext>
            </a:extLst>
          </p:cNvPr>
          <p:cNvSpPr txBox="1">
            <a:spLocks/>
          </p:cNvSpPr>
          <p:nvPr/>
        </p:nvSpPr>
        <p:spPr>
          <a:xfrm>
            <a:off x="871234" y="706615"/>
            <a:ext cx="10515600" cy="61344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流程拆解：跨行轉帳的流程</a:t>
            </a:r>
          </a:p>
        </p:txBody>
      </p:sp>
      <p:pic>
        <p:nvPicPr>
          <p:cNvPr id="5" name="圖片 4" descr="一張含有 文字, 螢幕擷取畫面, 平行, 行 的圖片&#10;&#10;AI 產生的內容可能不正確。">
            <a:extLst>
              <a:ext uri="{FF2B5EF4-FFF2-40B4-BE49-F238E27FC236}">
                <a16:creationId xmlns:a16="http://schemas.microsoft.com/office/drawing/2014/main" id="{258E94D2-C0F5-9F72-B4E1-A60E8788EE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466" y="1511484"/>
            <a:ext cx="10531354" cy="4639901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BF91FF71-3344-A322-782B-5F9B95CA0CB0}"/>
              </a:ext>
            </a:extLst>
          </p:cNvPr>
          <p:cNvSpPr txBox="1"/>
          <p:nvPr/>
        </p:nvSpPr>
        <p:spPr>
          <a:xfrm>
            <a:off x="1957136" y="2149641"/>
            <a:ext cx="26981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1.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點擊「轉帳」按鈕，輸入金額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AFE96E72-150A-172A-47F2-ECBDF78165BF}"/>
              </a:ext>
            </a:extLst>
          </p:cNvPr>
          <p:cNvSpPr txBox="1"/>
          <p:nvPr/>
        </p:nvSpPr>
        <p:spPr>
          <a:xfrm>
            <a:off x="4722545" y="2448526"/>
            <a:ext cx="25186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2.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調用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’</a:t>
            </a:r>
            <a:r>
              <a:rPr lang="en-US" altLang="zh-TW" sz="14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getHandlingFee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()’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460072CC-641C-0A4A-47E6-C36B67DA3BEE}"/>
              </a:ext>
            </a:extLst>
          </p:cNvPr>
          <p:cNvSpPr txBox="1"/>
          <p:nvPr/>
        </p:nvSpPr>
        <p:spPr>
          <a:xfrm>
            <a:off x="2013165" y="3134174"/>
            <a:ext cx="16209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4.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顯示確認對話框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24DFA0CA-C4BA-EC06-B5C3-1F5CD5AC3106}"/>
              </a:ext>
            </a:extLst>
          </p:cNvPr>
          <p:cNvSpPr txBox="1"/>
          <p:nvPr/>
        </p:nvSpPr>
        <p:spPr>
          <a:xfrm>
            <a:off x="2013165" y="3492381"/>
            <a:ext cx="1082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5.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確認轉帳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E0BC1B54-CF64-4706-975B-5AF48FC7F7D4}"/>
              </a:ext>
            </a:extLst>
          </p:cNvPr>
          <p:cNvSpPr txBox="1"/>
          <p:nvPr/>
        </p:nvSpPr>
        <p:spPr>
          <a:xfrm>
            <a:off x="4722545" y="3831434"/>
            <a:ext cx="2428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6.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調用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‘</a:t>
            </a:r>
            <a:r>
              <a:rPr lang="en-US" altLang="zh-TW" sz="14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transferMoney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()’</a:t>
            </a:r>
            <a:endParaRPr lang="zh-TW" altLang="en-US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B84AAD5A-979F-353C-18B1-05BD04153616}"/>
              </a:ext>
            </a:extLst>
          </p:cNvPr>
          <p:cNvSpPr txBox="1"/>
          <p:nvPr/>
        </p:nvSpPr>
        <p:spPr>
          <a:xfrm>
            <a:off x="4722545" y="4577073"/>
            <a:ext cx="15311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7.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返回成功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失敗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95B1F6FD-D0CF-9E5B-6841-B640C334D8F9}"/>
              </a:ext>
            </a:extLst>
          </p:cNvPr>
          <p:cNvSpPr txBox="1"/>
          <p:nvPr/>
        </p:nvSpPr>
        <p:spPr>
          <a:xfrm>
            <a:off x="6985108" y="2809000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3.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返回手續費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14668AC-1587-BBC6-9DF1-80EA7A921C38}"/>
              </a:ext>
            </a:extLst>
          </p:cNvPr>
          <p:cNvSpPr txBox="1"/>
          <p:nvPr/>
        </p:nvSpPr>
        <p:spPr>
          <a:xfrm>
            <a:off x="4722545" y="4922387"/>
            <a:ext cx="23391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8.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調用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‘</a:t>
            </a:r>
            <a:r>
              <a:rPr lang="en-US" altLang="zh-TW" sz="14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saveUserData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()’</a:t>
            </a:r>
            <a:endParaRPr lang="zh-TW" altLang="en-US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08B405C8-448D-9453-C65E-DA597DA34B6E}"/>
              </a:ext>
            </a:extLst>
          </p:cNvPr>
          <p:cNvSpPr txBox="1"/>
          <p:nvPr/>
        </p:nvSpPr>
        <p:spPr>
          <a:xfrm>
            <a:off x="4691217" y="5322712"/>
            <a:ext cx="37753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9.(Self-call)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調用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‘</a:t>
            </a:r>
            <a:r>
              <a:rPr lang="en-US" altLang="zh-TW" sz="14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printMain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()’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刷新介面</a:t>
            </a:r>
          </a:p>
        </p:txBody>
      </p:sp>
    </p:spTree>
    <p:extLst>
      <p:ext uri="{BB962C8B-B14F-4D97-AF65-F5344CB8AC3E}">
        <p14:creationId xmlns:p14="http://schemas.microsoft.com/office/powerpoint/2010/main" val="2044189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8C8103-BE6E-2A86-FF9E-4CD404BCF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行, 圖表, 螢幕擷取畫面, 文字 的圖片&#10;&#10;AI 產生的內容可能不正確。">
            <a:extLst>
              <a:ext uri="{FF2B5EF4-FFF2-40B4-BE49-F238E27FC236}">
                <a16:creationId xmlns:a16="http://schemas.microsoft.com/office/drawing/2014/main" id="{B34512E0-F4B0-439F-B7FB-3976F9BFDB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1524274"/>
            <a:ext cx="12192000" cy="3809451"/>
          </a:xfrm>
          <a:prstGeom prst="rect">
            <a:avLst/>
          </a:prstGeom>
        </p:spPr>
      </p:pic>
      <p:sp>
        <p:nvSpPr>
          <p:cNvPr id="4" name="標題 1">
            <a:extLst>
              <a:ext uri="{FF2B5EF4-FFF2-40B4-BE49-F238E27FC236}">
                <a16:creationId xmlns:a16="http://schemas.microsoft.com/office/drawing/2014/main" id="{0FDFF4E4-7B3C-C230-292D-806E0BA61169}"/>
              </a:ext>
            </a:extLst>
          </p:cNvPr>
          <p:cNvSpPr txBox="1">
            <a:spLocks/>
          </p:cNvSpPr>
          <p:nvPr/>
        </p:nvSpPr>
        <p:spPr>
          <a:xfrm>
            <a:off x="871234" y="706615"/>
            <a:ext cx="10515600" cy="61344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資料的生命週期：確保使用者資料不遺失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E024030-CED6-AA12-946E-623A0670E74B}"/>
              </a:ext>
            </a:extLst>
          </p:cNvPr>
          <p:cNvSpPr txBox="1"/>
          <p:nvPr/>
        </p:nvSpPr>
        <p:spPr>
          <a:xfrm>
            <a:off x="740954" y="5461622"/>
            <a:ext cx="1126462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核心機制：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資料持久化的核心是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Account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類別中的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HashMap&lt;</a:t>
            </a:r>
            <a:r>
              <a:rPr lang="en-US" altLang="zh-TW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String,UserData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&gt; users</a:t>
            </a:r>
          </a:p>
          <a:p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	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　它在程式運行期間，將每位使用者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包括遊客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的銀行狀態保存於記憶體中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設計目標：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確保在單次程式使用期間，任何使用者的帳戶狀態都能在登入、登出和切換帳號之間被完整保留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6202A2BE-071E-DF55-CEB3-03EA636E73E2}"/>
              </a:ext>
            </a:extLst>
          </p:cNvPr>
          <p:cNvSpPr txBox="1"/>
          <p:nvPr/>
        </p:nvSpPr>
        <p:spPr>
          <a:xfrm>
            <a:off x="5346786" y="1570405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登入成功後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201C7774-B963-BFA2-05C1-B3C005CD4E46}"/>
              </a:ext>
            </a:extLst>
          </p:cNvPr>
          <p:cNvSpPr txBox="1"/>
          <p:nvPr/>
        </p:nvSpPr>
        <p:spPr>
          <a:xfrm>
            <a:off x="1266598" y="1558310"/>
            <a:ext cx="28135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登入前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ctr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（保存遊客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前用戶資料）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18D6B219-DC16-7FDE-DF78-37B57626C080}"/>
              </a:ext>
            </a:extLst>
          </p:cNvPr>
          <p:cNvSpPr txBox="1"/>
          <p:nvPr/>
        </p:nvSpPr>
        <p:spPr>
          <a:xfrm>
            <a:off x="1563731" y="4554857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銀行操作成功後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02C78240-4BF2-A096-5A4E-7CD1FE10D61F}"/>
              </a:ext>
            </a:extLst>
          </p:cNvPr>
          <p:cNvSpPr txBox="1"/>
          <p:nvPr/>
        </p:nvSpPr>
        <p:spPr>
          <a:xfrm>
            <a:off x="5115953" y="4843676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切換至遊客模式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E07BC7E2-AA94-907C-30DD-201D6DD6E240}"/>
              </a:ext>
            </a:extLst>
          </p:cNvPr>
          <p:cNvSpPr txBox="1"/>
          <p:nvPr/>
        </p:nvSpPr>
        <p:spPr>
          <a:xfrm>
            <a:off x="9746400" y="4554857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關閉視窗時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F538705E-FBA6-48ED-2271-32E0DA465242}"/>
              </a:ext>
            </a:extLst>
          </p:cNvPr>
          <p:cNvSpPr txBox="1"/>
          <p:nvPr/>
        </p:nvSpPr>
        <p:spPr>
          <a:xfrm>
            <a:off x="9166979" y="1755071"/>
            <a:ext cx="16850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登出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切換遊客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0E3F623-7C29-59EF-F3AF-C55159FE0473}"/>
              </a:ext>
            </a:extLst>
          </p:cNvPr>
          <p:cNvSpPr txBox="1"/>
          <p:nvPr/>
        </p:nvSpPr>
        <p:spPr>
          <a:xfrm>
            <a:off x="6096000" y="2236142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讀取（</a:t>
            </a:r>
            <a:r>
              <a:rPr lang="en-US" altLang="zh-TW" b="1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loadUserData</a:t>
            </a: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）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121DC592-0FAD-CDD6-C76C-3C34F3D975CC}"/>
              </a:ext>
            </a:extLst>
          </p:cNvPr>
          <p:cNvSpPr txBox="1"/>
          <p:nvPr/>
        </p:nvSpPr>
        <p:spPr>
          <a:xfrm>
            <a:off x="6129034" y="4177939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讀取（</a:t>
            </a:r>
            <a:r>
              <a:rPr lang="en-US" altLang="zh-TW" b="1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loadUserData</a:t>
            </a: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）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29E44951-2238-AC30-233F-D097E64D44E2}"/>
              </a:ext>
            </a:extLst>
          </p:cNvPr>
          <p:cNvSpPr txBox="1"/>
          <p:nvPr/>
        </p:nvSpPr>
        <p:spPr>
          <a:xfrm>
            <a:off x="9047129" y="3171477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儲存（</a:t>
            </a:r>
            <a:r>
              <a:rPr lang="en-US" altLang="zh-TW" b="1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saveUserData</a:t>
            </a: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）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F840F3C1-ACD2-B1AA-E8D3-5A7F4CE9F7FC}"/>
              </a:ext>
            </a:extLst>
          </p:cNvPr>
          <p:cNvSpPr txBox="1"/>
          <p:nvPr/>
        </p:nvSpPr>
        <p:spPr>
          <a:xfrm>
            <a:off x="871234" y="3171477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儲存（</a:t>
            </a:r>
            <a:r>
              <a:rPr lang="en-US" altLang="zh-TW" b="1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saveUserData</a:t>
            </a: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19359000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255F01-6125-DD7E-55DE-07E8F1CB5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AE7F03-3A34-89AB-66A4-A1AB939DC129}"/>
              </a:ext>
            </a:extLst>
          </p:cNvPr>
          <p:cNvSpPr txBox="1">
            <a:spLocks/>
          </p:cNvSpPr>
          <p:nvPr/>
        </p:nvSpPr>
        <p:spPr>
          <a:xfrm>
            <a:off x="871234" y="706615"/>
            <a:ext cx="10515600" cy="61344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總結：一個穩健且可靠的系統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8DC3274F-345B-C8D7-8D90-A9B1665DCC68}"/>
              </a:ext>
            </a:extLst>
          </p:cNvPr>
          <p:cNvSpPr txBox="1"/>
          <p:nvPr/>
        </p:nvSpPr>
        <p:spPr>
          <a:xfrm>
            <a:off x="871235" y="1874703"/>
            <a:ext cx="4832448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8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設計成就</a:t>
            </a:r>
            <a:endParaRPr lang="en-US" altLang="zh-TW" sz="2800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●</a:t>
            </a: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物件導向實踐：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成功將系統解構成高內聚、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　低耦合模組（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Account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Bank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en-US" altLang="zh-TW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BankManager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）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　，每個類別職責分明。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●</a:t>
            </a: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設計模式應用：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有效利用單例模式，確保使　　 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　用者與銀行規則管理器的全域唯一性與狀態　　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　性一致。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●</a:t>
            </a: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分層清晰：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實現了後端邏輯層與前端表現層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　（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Gui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介面）的有效分離，使系統益於維護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　與擴展。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409F5085-202B-E094-577D-DB38B8D98317}"/>
              </a:ext>
            </a:extLst>
          </p:cNvPr>
          <p:cNvSpPr txBox="1"/>
          <p:nvPr/>
        </p:nvSpPr>
        <p:spPr>
          <a:xfrm>
            <a:off x="6129034" y="1875339"/>
            <a:ext cx="4832448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8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功能完整性</a:t>
            </a:r>
            <a:endParaRPr lang="en-US" altLang="zh-TW" sz="2800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●完整涵蓋了從使用者身分管理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註冊、登入、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　遊客模式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到核心銀行業務（開戶、提款、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　存錢、轉帳），再到後台管理（手續費）。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●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Gui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介面動態響應系統狀態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如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root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管理模式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　，提供了良好的使用者體驗。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688157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318</TotalTime>
  <Words>1966</Words>
  <Application>Microsoft Office PowerPoint</Application>
  <PresentationFormat>寬螢幕</PresentationFormat>
  <Paragraphs>182</Paragraphs>
  <Slides>14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14</vt:i4>
      </vt:variant>
    </vt:vector>
  </HeadingPairs>
  <TitlesOfParts>
    <vt:vector size="20" baseType="lpstr">
      <vt:lpstr>標楷體</vt:lpstr>
      <vt:lpstr>Arial</vt:lpstr>
      <vt:lpstr>Calibri</vt:lpstr>
      <vt:lpstr>Calibri Light</vt:lpstr>
      <vt:lpstr>Times New Roman</vt:lpstr>
      <vt:lpstr>Office 佈景主題</vt:lpstr>
      <vt:lpstr>銀行模擬系統</vt:lpstr>
      <vt:lpstr>系統願景：打造一個多功能的銀行模擬平台</vt:lpstr>
      <vt:lpstr>系統架構設計：四大核心支柱</vt:lpstr>
      <vt:lpstr>核心支柱 I：‘Account’ - 使用者管理的基石</vt:lpstr>
      <vt:lpstr>核心支柱 II：‘Bank’ - 交易執行的單元</vt:lpstr>
      <vt:lpstr>核心支柱 III：‘BankManager’ - 規則的制定者</vt:lpstr>
      <vt:lpstr>指揮中心 ‘Main’：串連邏輯與介面的橋樑</vt:lpstr>
      <vt:lpstr>使用者介面：一個直觀互動的門戶</vt:lpstr>
      <vt:lpstr>身份的起點：使用者註冊與登入</vt:lpstr>
      <vt:lpstr>日常操作：開戶、存提與轉帳</vt:lpstr>
      <vt:lpstr>銀行經理：Root 管理模式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育維 劉</dc:creator>
  <cp:lastModifiedBy>USER</cp:lastModifiedBy>
  <cp:revision>30</cp:revision>
  <dcterms:created xsi:type="dcterms:W3CDTF">2025-12-21T10:17:18Z</dcterms:created>
  <dcterms:modified xsi:type="dcterms:W3CDTF">2025-12-23T05:31:58Z</dcterms:modified>
</cp:coreProperties>
</file>